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 DEVELOPMENT CONFERENCE 2026  ·  TRACK 3  ·  TEAM 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0" y="457200"/>
            <a:ext cx="5303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0D34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63,259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11480" y="640080"/>
            <a:ext cx="8321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Votes That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Never Existed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11480" y="2788920"/>
            <a:ext cx="8321040" cy="36576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2907792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polling-unit forms expose a result inversion in Nigeria's 2023 presidential election.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Don Kast reads them automatically — in real time, running parallel to INEC's IReV.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3749040"/>
            <a:ext cx="3840480" cy="420624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3758184"/>
            <a:ext cx="3712464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Electoral Act 2026 now mandates real-time IReV transmission. E Don Kast enforces it.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43159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Olufemi Olamijulo  ·  Rhoda Oluwarantimi Oni  ·  Dela Michel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5445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app.edonkast.com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2976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spc="300" kern="0" dirty="0">
                <a:solidFill>
                  <a:srgbClr val="00A9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DON KAST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09360" y="459028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Election Verification  ·  StayGIS LLC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Nigeria's 2023 Presidential Election  ·  Checks &amp; Accountability  ·  Majority Rules, Not Manipulation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Law Changed. The Gap Remains.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309360" y="566928"/>
            <a:ext cx="2468880" cy="804672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0" y="585216"/>
            <a:ext cx="2286000" cy="7680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core: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rules — not manipulation, not litigation.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65760" y="1316736"/>
            <a:ext cx="8412480" cy="36576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426464"/>
            <a:ext cx="4160520" cy="2743200"/>
          </a:xfrm>
          <a:prstGeom prst="rect">
            <a:avLst/>
          </a:prstGeom>
          <a:solidFill>
            <a:srgbClr val="0B1F3A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" y="1481328"/>
            <a:ext cx="3877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LAW  —  Electoral Act 2026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2064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60(3) now mandates: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2064" y="1956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presiding officer shall electronically transmit the results from each polling unit to the IReV portal in real time…"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2064" y="2651760"/>
            <a:ext cx="3840480" cy="493776"/>
          </a:xfrm>
          <a:prstGeom prst="rect">
            <a:avLst/>
          </a:prstGeom>
          <a:solidFill>
            <a:srgbClr val="E889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2679192"/>
            <a:ext cx="3730752" cy="43891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loophole: a 'communication failure' exemption allows manual EC8A to override IReV — undefined, undocumented, unenforced.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2064" y="3236976"/>
            <a:ext cx="3840480" cy="365760"/>
          </a:xfrm>
          <a:prstGeom prst="rect">
            <a:avLst/>
          </a:prstGeom>
          <a:solidFill>
            <a:srgbClr val="007A72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255264"/>
            <a:ext cx="3730752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Don Kast closes this loophole — independent extraction from the same photos IReV already holds.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426464"/>
            <a:ext cx="40690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1481328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NUMBERS CHANGE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46320" y="1773936"/>
            <a:ext cx="347472" cy="347472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1810512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266944" y="17922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signed at polling unit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66944" y="1975104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agents witness. Form is authoritative.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92624" y="2139696"/>
            <a:ext cx="36576" cy="201168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2377440"/>
            <a:ext cx="347472" cy="347472"/>
          </a:xfrm>
          <a:prstGeom prst="rect">
            <a:avLst/>
          </a:prstGeom>
          <a:solidFill>
            <a:srgbClr val="E889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241401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266944" y="23957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LGA collation centre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66944" y="25786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officer. Behind closed doors. Numbers can change.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92624" y="2743200"/>
            <a:ext cx="36576" cy="201168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8" name="Shape 26"/>
          <p:cNvSpPr/>
          <p:nvPr/>
        </p:nvSpPr>
        <p:spPr>
          <a:xfrm>
            <a:off x="4846320" y="2980944"/>
            <a:ext cx="347472" cy="347472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301752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266944" y="299923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INEC declaration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66944" y="318211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only surfaces months later in court.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46320" y="3547872"/>
            <a:ext cx="3803904" cy="420624"/>
          </a:xfrm>
          <a:prstGeom prst="rect">
            <a:avLst/>
          </a:prstGeom>
          <a:solidFill>
            <a:srgbClr val="E3F5F4"/>
          </a:solidFill>
          <a:ln/>
        </p:spPr>
      </p:sp>
      <p:sp>
        <p:nvSpPr>
          <p:cNvPr id="33" name="Text 31"/>
          <p:cNvSpPr/>
          <p:nvPr/>
        </p:nvSpPr>
        <p:spPr>
          <a:xfrm>
            <a:off x="4919472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IReV already has the photos. E Don Kast now reads them and makes divergence visible instantly.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4 (Rumuodomaya)  ·  Obio-Akpor LGA  ·  Rivers State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Evidence: Numbers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42416"/>
            <a:ext cx="8412480" cy="621792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78992"/>
            <a:ext cx="813816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</a:rPr>
              <a:t>Ward 4 EC8A forms record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4,432 LP votes</a:t>
            </a:r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</a:rPr>
              <a:t>.  INEC declared only </a:t>
            </a:r>
            <a:pPr indent="0" marL="0">
              <a:buNone/>
            </a:pPr>
            <a:r>
              <a:rPr lang="en-US" sz="1300" b="1" dirty="0">
                <a:solidFill>
                  <a:srgbClr val="7B0000"/>
                </a:solidFill>
              </a:rPr>
              <a:t>3,829 LP votes</a:t>
            </a:r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</a:rPr>
              <a:t> for the ENTIRE LGA — a single ward recorded more LP votes than INEC credited to all 48.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1847088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792224"/>
            <a:ext cx="1847088" cy="7315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901952"/>
            <a:ext cx="16642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9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4,432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715768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VOTES · WARD 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forms recorded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1792224"/>
            <a:ext cx="1847088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31720" y="1792224"/>
            <a:ext cx="1847088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2423160" y="1901952"/>
            <a:ext cx="16642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3,829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423160" y="2715768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VOTES · FULL LGA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423160" y="30175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INEC officially declared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97680" y="1792224"/>
            <a:ext cx="2286000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97680" y="1792224"/>
            <a:ext cx="2286000" cy="7315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1901952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9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−64,692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389120" y="2715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VOTES MISSING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8912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LGA EC8A vs declared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702552" y="1792224"/>
            <a:ext cx="2286000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02552" y="1792224"/>
            <a:ext cx="2286000" cy="7315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4" name="Text 22"/>
          <p:cNvSpPr/>
          <p:nvPr/>
        </p:nvSpPr>
        <p:spPr>
          <a:xfrm>
            <a:off x="6793992" y="1901952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9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+63,259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793992" y="2715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APC VOTES ADDED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793992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INEC declared vs EC8A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5760" y="39319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CCIJ / Veza News  —  169,328 EC8A forms digitized from Obio-Akpor LGA  [PRI1, INV1]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65760" y="416966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five Rivers State LGAs where EC8A forms show 110,000+ more APC votes than recorded at polling units. [INV1]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Unit 32/15/04/015  ·  Ward 4, Rumuodomaya  ·  Primary Source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Polling Agent's Cry for Help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3200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15568"/>
            <a:ext cx="443484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15568"/>
            <a:ext cx="64008" cy="3127248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70432"/>
            <a:ext cx="4169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E88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 A  —  DocumentCloud  ·  PU 32/15/04/015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4169664" cy="26517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To: The Director ICT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INEC, Rivers State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Sir,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Okafor Sophia, polling agent of Labour Party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Ward 4 Rumuodomaya, write to report that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presidential result booklets were NOT made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available at nine (9) polling units in this ward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election day, 25th February 2023.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request your urgent investigation into this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matter as results cannot be collated without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booklets.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Signed: Okafor Sophia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Date: 28-02-2023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115568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74336" y="1115568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2" name="Text 10"/>
          <p:cNvSpPr/>
          <p:nvPr/>
        </p:nvSpPr>
        <p:spPr>
          <a:xfrm>
            <a:off x="5102352" y="1170432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02352" y="134416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Okafor Sophia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02352" y="1563624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Polling Agent, Ward 4, Rumuodomaya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74336" y="1883664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74336" y="1883664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7" name="Text 15"/>
          <p:cNvSpPr/>
          <p:nvPr/>
        </p:nvSpPr>
        <p:spPr>
          <a:xfrm>
            <a:off x="5102352" y="1938528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ADDRESSED TO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102352" y="211226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INEC ICT Director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02352" y="2331720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State — on record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974336" y="2651760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74336" y="2651760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2" name="Text 20"/>
          <p:cNvSpPr/>
          <p:nvPr/>
        </p:nvSpPr>
        <p:spPr>
          <a:xfrm>
            <a:off x="5102352" y="270662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FILED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02352" y="288036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 Feb 2023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02352" y="3099816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after polling day — contemporaneous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974336" y="3419856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74336" y="3419856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7" name="Text 25"/>
          <p:cNvSpPr/>
          <p:nvPr/>
        </p:nvSpPr>
        <p:spPr>
          <a:xfrm>
            <a:off x="5102352" y="3474720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102352" y="364845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polling units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02352" y="386791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NO result booklets on election day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74336" y="4206240"/>
            <a:ext cx="3803904" cy="512064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84064" y="4233672"/>
            <a:ext cx="3584448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reconstruction — it is contemporaneous evidence of suppression filed on election day and archived on DocumentCloud.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Platform  ·  AI Extraction Layer  ·  Parallel to INEC IReV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Solution: E Don Kast + AI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023360" cy="3383280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97280"/>
            <a:ext cx="4023360" cy="5486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" y="11704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PRODUCTION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12064" y="1389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Don Kast  ·  app.edonkast.com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30352" y="1737360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73736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7465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Nigeria-wide results map (StayGIS PMTiles)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" y="2020824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" y="202082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58952" y="20299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photo submission by party agents and observers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0352" y="2304288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" y="23042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8952" y="23134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drilldown: State → LGA → Ward → Polling Unit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587752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5877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58952" y="25968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reporting: BVAS failures, security incidents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" y="2871216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8712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8952" y="28803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(Africa region) backend, production API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30352" y="3154680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" y="3154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8952" y="31638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collectors + public open submissions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0" y="1097280"/>
            <a:ext cx="4206240" cy="3383280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1097280"/>
            <a:ext cx="4206240" cy="5486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9" name="Text 27"/>
          <p:cNvSpPr/>
          <p:nvPr/>
        </p:nvSpPr>
        <p:spPr>
          <a:xfrm>
            <a:off x="4718304" y="1170432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—  Machine Learning OCR Layer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18304" y="1463040"/>
            <a:ext cx="384048" cy="384048"/>
          </a:xfrm>
          <a:prstGeom prst="oval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18304" y="147218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75504" y="14813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 photographs EC8A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175504" y="17007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workflow as IReV upload — no new hardware required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82896" y="1865376"/>
            <a:ext cx="36576" cy="438912"/>
          </a:xfrm>
          <a:prstGeom prst="rect">
            <a:avLst/>
          </a:prstGeom>
          <a:solidFill>
            <a:srgbClr val="007A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18304" y="2304288"/>
            <a:ext cx="384048" cy="384048"/>
          </a:xfrm>
          <a:prstGeom prst="oval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18304" y="23134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175504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model extracts votes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175504" y="254203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&amp; deep learning OCR reads handwritten LP &amp; APC figures; cross-checks numbers vs words column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82896" y="2706624"/>
            <a:ext cx="36576" cy="438912"/>
          </a:xfrm>
          <a:prstGeom prst="rect">
            <a:avLst/>
          </a:prstGeom>
          <a:solidFill>
            <a:srgbClr val="007A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18304" y="3145536"/>
            <a:ext cx="384048" cy="384048"/>
          </a:xfrm>
          <a:prstGeom prst="oval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718304" y="3154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75504" y="31638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Divergence flagged instantly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175504" y="33832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Don Kast crowd total vs IReV declaration — any gap surfaces immediately, not months later in court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5760" y="4407408"/>
            <a:ext cx="8412480" cy="201168"/>
          </a:xfrm>
          <a:prstGeom prst="rect">
            <a:avLst/>
          </a:prstGeom>
          <a:solidFill>
            <a:srgbClr val="0F2740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" y="442569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 Flask · AWS Africa · Next.js · Mapbox PMTiles · claude-sonnet-4-6 ML model  ·  Open-source · Portable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608576"/>
            <a:ext cx="8412480" cy="310896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0292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Electoral Act 2026 mandates IReV transmission. E Don Kast is the independent verification layer that enforces it.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Must Act — and Who Can Make It Happen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852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Actor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3200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33856"/>
            <a:ext cx="2670048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33856"/>
            <a:ext cx="2670048" cy="91440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" y="1243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" y="1673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REGULATOR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93776" y="1874520"/>
            <a:ext cx="2414016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" y="1965960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1947672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78 CFRN: transparent result collation required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93776" y="249631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478024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Electoral Act 2026 now legally mandates EC8A transmission — INEC must implement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3776" y="3026664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008376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IReV portal upgradeable for crowd-sourced verified images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" y="3557016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5387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BVAS logs must become publicly auditable in real time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0" y="1133856"/>
            <a:ext cx="2670048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1133856"/>
            <a:ext cx="2670048" cy="91440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1" name="Text 19"/>
          <p:cNvSpPr/>
          <p:nvPr/>
        </p:nvSpPr>
        <p:spPr>
          <a:xfrm>
            <a:off x="3328416" y="1243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Civil Society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Media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328416" y="1673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E88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PARTNERS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28416" y="1874520"/>
            <a:ext cx="2414016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4" name="Shape 22"/>
          <p:cNvSpPr/>
          <p:nvPr/>
        </p:nvSpPr>
        <p:spPr>
          <a:xfrm>
            <a:off x="3328416" y="1965960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25" name="Text 23"/>
          <p:cNvSpPr/>
          <p:nvPr/>
        </p:nvSpPr>
        <p:spPr>
          <a:xfrm>
            <a:off x="3502152" y="1947672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CCIJ digitized 169k EC8A forms — infrastructure already exists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28416" y="2496312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27" name="Text 25"/>
          <p:cNvSpPr/>
          <p:nvPr/>
        </p:nvSpPr>
        <p:spPr>
          <a:xfrm>
            <a:off x="3502152" y="2478024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Dataphyte, Veza News: publish discrepancy analysis on election night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28416" y="3026664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29" name="Text 27"/>
          <p:cNvSpPr/>
          <p:nvPr/>
        </p:nvSpPr>
        <p:spPr>
          <a:xfrm>
            <a:off x="3502152" y="3008376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reporters with phones become election observers at scale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28416" y="3557016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31" name="Text 29"/>
          <p:cNvSpPr/>
          <p:nvPr/>
        </p:nvSpPr>
        <p:spPr>
          <a:xfrm>
            <a:off x="3502152" y="35387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legal coalition: EC8A forms as court-ready documentary evidence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1133856"/>
            <a:ext cx="2670048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035040" y="1133856"/>
            <a:ext cx="2670048" cy="9144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4" name="Text 32"/>
          <p:cNvSpPr/>
          <p:nvPr/>
        </p:nvSpPr>
        <p:spPr>
          <a:xfrm>
            <a:off x="6163056" y="1243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Diaspora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Donors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163056" y="1673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&amp; VALIDATORS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63056" y="1874520"/>
            <a:ext cx="2414016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37" name="Shape 35"/>
          <p:cNvSpPr/>
          <p:nvPr/>
        </p:nvSpPr>
        <p:spPr>
          <a:xfrm>
            <a:off x="6163056" y="1965960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38" name="Text 36"/>
          <p:cNvSpPr/>
          <p:nvPr/>
        </p:nvSpPr>
        <p:spPr>
          <a:xfrm>
            <a:off x="6336792" y="1947672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1.7M Nigerians in US — verify results from home wards via platform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63056" y="2496312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40" name="Text 38"/>
          <p:cNvSpPr/>
          <p:nvPr/>
        </p:nvSpPr>
        <p:spPr>
          <a:xfrm>
            <a:off x="6336792" y="2478024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funds Phase 1: NIDO, NANAF, state-chapter diaspora networks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63056" y="3026664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42" name="Text 40"/>
          <p:cNvSpPr/>
          <p:nvPr/>
        </p:nvSpPr>
        <p:spPr>
          <a:xfrm>
            <a:off x="6336792" y="3008376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StayGIS LLC: fully independent — no party affiliation, open methodology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163056" y="3557016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44" name="Text 42"/>
          <p:cNvSpPr/>
          <p:nvPr/>
        </p:nvSpPr>
        <p:spPr>
          <a:xfrm>
            <a:off x="6336792" y="35387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Portable: Kenya, Ghana, Senegal legal frameworks already reviewed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6" name="Text 44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to Live Deployment  ·  Ekiti Jun 20  ·  Osun Aug 15  ·  National 2027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852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Plan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3200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15568"/>
            <a:ext cx="265176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15568"/>
            <a:ext cx="2651760" cy="47548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13385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  ·  Days 1–30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75488" y="1335024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Platform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" y="1636776"/>
            <a:ext cx="2432304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" y="171907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170078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 Don Kast with CCIJ 169k-form archive as live simulation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" y="222199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20370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Obio-Akpor 2023 data proves pipeline — known outcome = ground truth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3776" y="272491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27066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SERAP MOU — discrepancy outputs tribunal-ready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93776" y="322783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20954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deep learning OCR pipeline → 95%+ accuracy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3776" y="373075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Dashboard live + SERAP MOU signed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0" y="1115568"/>
            <a:ext cx="265176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1115568"/>
            <a:ext cx="2651760" cy="475488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3" name="Text 21"/>
          <p:cNvSpPr/>
          <p:nvPr/>
        </p:nvSpPr>
        <p:spPr>
          <a:xfrm>
            <a:off x="3310128" y="113385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  ·  Days 31–60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10128" y="1335024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Election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Ekiti — Jun 20, 2026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10128" y="1636776"/>
            <a:ext cx="2432304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6" name="Shape 24"/>
          <p:cNvSpPr/>
          <p:nvPr/>
        </p:nvSpPr>
        <p:spPr>
          <a:xfrm>
            <a:off x="3328416" y="171907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27" name="Text 25"/>
          <p:cNvSpPr/>
          <p:nvPr/>
        </p:nvSpPr>
        <p:spPr>
          <a:xfrm>
            <a:off x="3502152" y="170078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500 citizen observers with mobile uploader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328416" y="222199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29" name="Text 27"/>
          <p:cNvSpPr/>
          <p:nvPr/>
        </p:nvSpPr>
        <p:spPr>
          <a:xfrm>
            <a:off x="3502152" y="220370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aggregation vs official collation — live election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328416" y="272491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31" name="Text 29"/>
          <p:cNvSpPr/>
          <p:nvPr/>
        </p:nvSpPr>
        <p:spPr>
          <a:xfrm>
            <a:off x="3502152" y="27066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alerts to registered media partners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328416" y="322783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33" name="Text 31"/>
          <p:cNvSpPr/>
          <p:nvPr/>
        </p:nvSpPr>
        <p:spPr>
          <a:xfrm>
            <a:off x="3502152" y="320954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Post-election accuracy audit and public report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328416" y="373075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35" name="Text 33"/>
          <p:cNvSpPr/>
          <p:nvPr/>
        </p:nvSpPr>
        <p:spPr>
          <a:xfrm>
            <a:off x="350215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≥85% ward totals verified within 6 hrs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035040" y="1115568"/>
            <a:ext cx="265176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35040" y="1115568"/>
            <a:ext cx="2651760" cy="475488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8" name="Text 36"/>
          <p:cNvSpPr/>
          <p:nvPr/>
        </p:nvSpPr>
        <p:spPr>
          <a:xfrm>
            <a:off x="6144768" y="113385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  ·  Days 61–90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44768" y="1335024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 &amp; Policy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Osun — Aug 15, 2026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44768" y="1636776"/>
            <a:ext cx="2432304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41" name="Shape 39"/>
          <p:cNvSpPr/>
          <p:nvPr/>
        </p:nvSpPr>
        <p:spPr>
          <a:xfrm>
            <a:off x="6163056" y="171907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36792" y="170078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3,000+ observers for Osun deployment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63056" y="222199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4" name="Text 42"/>
          <p:cNvSpPr/>
          <p:nvPr/>
        </p:nvSpPr>
        <p:spPr>
          <a:xfrm>
            <a:off x="6336792" y="220370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accuracy report to INEC and National Assembly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63056" y="272491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36792" y="27066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INEC regulation — mandatory EC8A structured exports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163056" y="322783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8" name="Text 46"/>
          <p:cNvSpPr/>
          <p:nvPr/>
        </p:nvSpPr>
        <p:spPr>
          <a:xfrm>
            <a:off x="6336792" y="320954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diaspora crowdfund for 2027 elections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163056" y="373075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50" name="Text 48"/>
          <p:cNvSpPr/>
          <p:nvPr/>
        </p:nvSpPr>
        <p:spPr>
          <a:xfrm>
            <a:off x="633679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Bill tabled; Phase 2 crowdfund at $50k+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52" name="Text 50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  —  Hold the EC8A form. Scan. Watch it 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658368"/>
            <a:ext cx="2359152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02336" y="7132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SUBMIT</a:t>
            </a:r>
            <a:endParaRPr lang="en-US" sz="900" dirty="0"/>
          </a:p>
        </p:txBody>
      </p:sp>
      <p:pic>
        <p:nvPicPr>
          <p:cNvPr id="6" name="Image 0" descr="/sessions/confident-optimistic-brahmagupta/mnt/Nigeria-2023-election-OCR/qr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78408"/>
            <a:ext cx="1719072" cy="1719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9184" y="275234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edonkast-ocr-production.up.railway.app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329184" y="295351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/dashboard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2907792" y="640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Ask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907792" y="107899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907792" y="1078992"/>
            <a:ext cx="548640" cy="71323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2" name="Text 9"/>
          <p:cNvSpPr/>
          <p:nvPr/>
        </p:nvSpPr>
        <p:spPr>
          <a:xfrm>
            <a:off x="2907792" y="1261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20440" y="11247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INEC Partnership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520440" y="1389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IReV upload API for real-time EC8A verification and instant discrepancy flagging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907792" y="190195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907792" y="1901952"/>
            <a:ext cx="548640" cy="71323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7" name="Text 14"/>
          <p:cNvSpPr/>
          <p:nvPr/>
        </p:nvSpPr>
        <p:spPr>
          <a:xfrm>
            <a:off x="2907792" y="20848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520440" y="1947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$50k Phase 1 Seed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520440" y="22128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Obio-Akpor pilot via diaspora networks (NIDO, NANAF, state-chapter associations) — 90-day deployable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907792" y="272491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907792" y="2724912"/>
            <a:ext cx="548640" cy="71323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2" name="Text 19"/>
          <p:cNvSpPr/>
          <p:nvPr/>
        </p:nvSpPr>
        <p:spPr>
          <a:xfrm>
            <a:off x="2907792" y="29077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520440" y="27706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 Amplification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520440" y="30358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Dataphyte, Veza News, Premium Times as live distribution partners for election-night discrepancy reporting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907792" y="354787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907792" y="3547872"/>
            <a:ext cx="548640" cy="71323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7" name="Text 24"/>
          <p:cNvSpPr/>
          <p:nvPr/>
        </p:nvSpPr>
        <p:spPr>
          <a:xfrm>
            <a:off x="2907792" y="37307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3520440" y="35935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Legislative Coalition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520440" y="38587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EC8A mandatory real-time disclosure amendment under Electoral Act 2026 Section 60 — close the loophole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0" y="4837176"/>
            <a:ext cx="9144000" cy="306324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1" name="Text 28"/>
          <p:cNvSpPr/>
          <p:nvPr/>
        </p:nvSpPr>
        <p:spPr>
          <a:xfrm>
            <a:off x="274320" y="4846320"/>
            <a:ext cx="8595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femi@staygis.com  ·  app.edonkast.com  ·  ADC 2026  ·  Track 3  ·  Team 16  |  Olufemi Olamijulo  ·  Rhoda Oluwarantimi Oni  ·  Dela Michel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2026-04-17T23:15:54Z</dcterms:created>
  <dcterms:modified xsi:type="dcterms:W3CDTF">2026-04-17T23:15:54Z</dcterms:modified>
</cp:coreProperties>
</file>