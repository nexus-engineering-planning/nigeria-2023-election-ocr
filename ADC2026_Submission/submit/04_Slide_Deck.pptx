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00A99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AFRICA DEVELOPMENT CONFERENCE 2026  ·  TRACK 3  ·  TEAM 16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0" y="457200"/>
            <a:ext cx="53035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0D345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63,259</a:t>
            </a:r>
            <a:endParaRPr lang="en-US" sz="10000" dirty="0"/>
          </a:p>
        </p:txBody>
      </p:sp>
      <p:sp>
        <p:nvSpPr>
          <p:cNvPr id="5" name="Text 3"/>
          <p:cNvSpPr/>
          <p:nvPr/>
        </p:nvSpPr>
        <p:spPr>
          <a:xfrm>
            <a:off x="411480" y="640080"/>
            <a:ext cx="8321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Votes That</a:t>
            </a:r>
            <a:endParaRPr lang="en-US" sz="4800" dirty="0"/>
          </a:p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Never Existed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411480" y="2788920"/>
            <a:ext cx="8321040" cy="36576"/>
          </a:xfrm>
          <a:prstGeom prst="rect">
            <a:avLst/>
          </a:prstGeom>
          <a:solidFill>
            <a:srgbClr val="00A99D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2907792"/>
            <a:ext cx="6217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D4E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EC8A polling-unit forms expose a result inversion in Nigeria's 2023 presidential election.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D4E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Don Kast reads them automatically — in real time, running parallel to INEC's IReV.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11480" y="3749040"/>
            <a:ext cx="3840480" cy="420624"/>
          </a:xfrm>
          <a:prstGeom prst="rect">
            <a:avLst/>
          </a:prstGeom>
          <a:solidFill>
            <a:srgbClr val="00A99D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75488" y="3758184"/>
            <a:ext cx="3712464" cy="40233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 Electoral Act 2026 now mandates real-time IReV transmission. E Don Kast enforces it.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11480" y="4315968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D4E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Olufemi Olamijulo  ·  Rhoda Oluwarantimi Oni  ·  Dela Michel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454456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0A9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app.edonkast.com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09360" y="429768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spc="300" kern="0" dirty="0">
                <a:solidFill>
                  <a:srgbClr val="00A99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 DON KAST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309360" y="459028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Election Verification  ·  StayGIS LLC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93776"/>
          </a:xfrm>
          <a:prstGeom prst="rect">
            <a:avLst/>
          </a:prstGeom>
          <a:solidFill>
            <a:srgbClr val="071629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E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Nigeria's 2023 Presidential Election  ·  Checks &amp; Accountability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59436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Law Changed. The Gap Remains.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316736"/>
            <a:ext cx="8412480" cy="36576"/>
          </a:xfrm>
          <a:prstGeom prst="rect">
            <a:avLst/>
          </a:prstGeom>
          <a:solidFill>
            <a:srgbClr val="00A99D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426464"/>
            <a:ext cx="4160520" cy="2743200"/>
          </a:xfrm>
          <a:prstGeom prst="rect">
            <a:avLst/>
          </a:prstGeom>
          <a:solidFill>
            <a:srgbClr val="0B1F3A"/>
          </a:solidFill>
          <a:ln w="12700">
            <a:solidFill>
              <a:srgbClr val="C8DD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12064" y="1481328"/>
            <a:ext cx="3877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100" kern="0" dirty="0">
                <a:solidFill>
                  <a:srgbClr val="00A9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LAW  —  Electoral Act 2026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12064" y="173736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D4E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60(3) now mandates: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12064" y="1956816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3F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presiding officer shall electronically transmit the results from each polling unit to the IReV portal in real time…"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12064" y="2651760"/>
            <a:ext cx="3840480" cy="493776"/>
          </a:xfrm>
          <a:prstGeom prst="rect">
            <a:avLst/>
          </a:prstGeom>
          <a:solidFill>
            <a:srgbClr val="E8893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66928" y="2679192"/>
            <a:ext cx="3730752" cy="43891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The loophole: a 'communication failure' exemption allows manual EC8A to override IReV — undefined, undocumented, unenforced.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12064" y="3236976"/>
            <a:ext cx="3840480" cy="365760"/>
          </a:xfrm>
          <a:prstGeom prst="rect">
            <a:avLst/>
          </a:prstGeom>
          <a:solidFill>
            <a:srgbClr val="007A72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3255264"/>
            <a:ext cx="3730752" cy="3291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Don Kast closes this loophole — independent extraction from the same photos IReV already holds.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426464"/>
            <a:ext cx="406908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D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846320" y="1481328"/>
            <a:ext cx="3803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100" kern="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NUMBERS CHANGE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846320" y="1773936"/>
            <a:ext cx="347472" cy="347472"/>
          </a:xfrm>
          <a:prstGeom prst="rect">
            <a:avLst/>
          </a:prstGeom>
          <a:solidFill>
            <a:srgbClr val="00A99D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846320" y="1810512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EC8A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5266944" y="1792224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EC8A signed at polling unit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266944" y="1975104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Party agents witness. Form is authoritative.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992624" y="2139696"/>
            <a:ext cx="36576" cy="201168"/>
          </a:xfrm>
          <a:prstGeom prst="rect">
            <a:avLst/>
          </a:prstGeom>
          <a:solidFill>
            <a:srgbClr val="C8DDE0"/>
          </a:solidFill>
          <a:ln/>
        </p:spPr>
      </p:sp>
      <p:sp>
        <p:nvSpPr>
          <p:cNvPr id="21" name="Shape 19"/>
          <p:cNvSpPr/>
          <p:nvPr/>
        </p:nvSpPr>
        <p:spPr>
          <a:xfrm>
            <a:off x="4846320" y="2377440"/>
            <a:ext cx="347472" cy="347472"/>
          </a:xfrm>
          <a:prstGeom prst="rect">
            <a:avLst/>
          </a:prstGeom>
          <a:solidFill>
            <a:srgbClr val="E8893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846320" y="2414016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LGA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5266944" y="2395728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LGA collation centre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266944" y="2578608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officer. Behind closed doors. Numbers can change.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992624" y="2743200"/>
            <a:ext cx="36576" cy="201168"/>
          </a:xfrm>
          <a:prstGeom prst="rect">
            <a:avLst/>
          </a:prstGeom>
          <a:solidFill>
            <a:srgbClr val="C8DDE0"/>
          </a:solidFill>
          <a:ln/>
        </p:spPr>
      </p:sp>
      <p:sp>
        <p:nvSpPr>
          <p:cNvPr id="26" name="Shape 24"/>
          <p:cNvSpPr/>
          <p:nvPr/>
        </p:nvSpPr>
        <p:spPr>
          <a:xfrm>
            <a:off x="4846320" y="2980944"/>
            <a:ext cx="347472" cy="347472"/>
          </a:xfrm>
          <a:prstGeom prst="rect">
            <a:avLst/>
          </a:prstGeom>
          <a:solidFill>
            <a:srgbClr val="C0392B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4846320" y="301752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5266944" y="2999232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INEC declaration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266944" y="3182112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Discrepancy only surfaces months later in court.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846320" y="3547872"/>
            <a:ext cx="3803904" cy="420624"/>
          </a:xfrm>
          <a:prstGeom prst="rect">
            <a:avLst/>
          </a:prstGeom>
          <a:solidFill>
            <a:srgbClr val="E3F5F4"/>
          </a:solidFill>
          <a:ln/>
        </p:spPr>
      </p:sp>
      <p:sp>
        <p:nvSpPr>
          <p:cNvPr id="31" name="Text 29"/>
          <p:cNvSpPr/>
          <p:nvPr/>
        </p:nvSpPr>
        <p:spPr>
          <a:xfrm>
            <a:off x="4919472" y="3566160"/>
            <a:ext cx="3657600" cy="3840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IReV already has the photos. E Don Kast now reads them and makes divergence visible instantly.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33" name="Text 31"/>
          <p:cNvSpPr/>
          <p:nvPr/>
        </p:nvSpPr>
        <p:spPr>
          <a:xfrm>
            <a:off x="320040" y="487375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4E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ADC 2026 Hackathon  ·  Track 3: Checks, Accountability &amp; Judicial Independence  ·  Team 16  ·  E Don Kast / StayGIS LLC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93776"/>
          </a:xfrm>
          <a:prstGeom prst="rect">
            <a:avLst/>
          </a:prstGeom>
          <a:solidFill>
            <a:srgbClr val="071629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E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Ward 4 (Rumuodomaya)  ·  Obio-Akpor LGA  ·  Rivers State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Evidence: Numbers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1042416"/>
            <a:ext cx="8412480" cy="621792"/>
          </a:xfrm>
          <a:prstGeom prst="rect">
            <a:avLst/>
          </a:prstGeom>
          <a:solidFill>
            <a:srgbClr val="00A99D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1078992"/>
            <a:ext cx="8138160" cy="5486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F3A"/>
                </a:solidFill>
              </a:rPr>
              <a:t>Ward 4 EC8A forms record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4,432 LP votes</a:t>
            </a:r>
            <a:pPr indent="0" marL="0">
              <a:buNone/>
            </a:pPr>
            <a:r>
              <a:rPr lang="en-US" sz="1300" dirty="0">
                <a:solidFill>
                  <a:srgbClr val="0B1F3A"/>
                </a:solidFill>
              </a:rPr>
              <a:t>.  INEC declared only </a:t>
            </a:r>
            <a:pPr indent="0" marL="0">
              <a:buNone/>
            </a:pPr>
            <a:r>
              <a:rPr lang="en-US" sz="1300" b="1" dirty="0">
                <a:solidFill>
                  <a:srgbClr val="7B0000"/>
                </a:solidFill>
              </a:rPr>
              <a:t>3,829 LP votes</a:t>
            </a:r>
            <a:pPr indent="0" marL="0">
              <a:buNone/>
            </a:pPr>
            <a:r>
              <a:rPr lang="en-US" sz="1300" dirty="0">
                <a:solidFill>
                  <a:srgbClr val="0B1F3A"/>
                </a:solidFill>
              </a:rPr>
              <a:t> for the ENTIRE LGA — a single ward recorded more LP votes than INEC credited to all 48.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1847088" cy="2066544"/>
          </a:xfrm>
          <a:prstGeom prst="rect">
            <a:avLst/>
          </a:prstGeom>
          <a:solidFill>
            <a:srgbClr val="0F2740"/>
          </a:solidFill>
          <a:ln w="12700">
            <a:solidFill>
              <a:srgbClr val="C8DD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792224"/>
            <a:ext cx="1847088" cy="73152"/>
          </a:xfrm>
          <a:prstGeom prst="rect">
            <a:avLst/>
          </a:prstGeom>
          <a:solidFill>
            <a:srgbClr val="00A99D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901952"/>
            <a:ext cx="166420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A99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4,432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457200" y="2715768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4E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 VOTES · WARD 4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57200" y="3017520"/>
            <a:ext cx="166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EC8A forms recorded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331720" y="1792224"/>
            <a:ext cx="1847088" cy="2066544"/>
          </a:xfrm>
          <a:prstGeom prst="rect">
            <a:avLst/>
          </a:prstGeom>
          <a:solidFill>
            <a:srgbClr val="0F2740"/>
          </a:solidFill>
          <a:ln w="12700">
            <a:solidFill>
              <a:srgbClr val="C8DD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331720" y="1792224"/>
            <a:ext cx="1847088" cy="7315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4" name="Text 12"/>
          <p:cNvSpPr/>
          <p:nvPr/>
        </p:nvSpPr>
        <p:spPr>
          <a:xfrm>
            <a:off x="2423160" y="1901952"/>
            <a:ext cx="166420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039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3,829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2423160" y="2715768"/>
            <a:ext cx="1664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4E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 VOTES · FULL LGA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2423160" y="3017520"/>
            <a:ext cx="166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INEC officially declared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297680" y="1792224"/>
            <a:ext cx="2286000" cy="2066544"/>
          </a:xfrm>
          <a:prstGeom prst="rect">
            <a:avLst/>
          </a:prstGeom>
          <a:solidFill>
            <a:srgbClr val="0F2740"/>
          </a:solidFill>
          <a:ln w="12700">
            <a:solidFill>
              <a:srgbClr val="C8DD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297680" y="1792224"/>
            <a:ext cx="2286000" cy="73152"/>
          </a:xfrm>
          <a:prstGeom prst="rect">
            <a:avLst/>
          </a:prstGeom>
          <a:solidFill>
            <a:srgbClr val="E8893A"/>
          </a:solidFill>
          <a:ln/>
        </p:spPr>
      </p:sp>
      <p:sp>
        <p:nvSpPr>
          <p:cNvPr id="19" name="Text 17"/>
          <p:cNvSpPr/>
          <p:nvPr/>
        </p:nvSpPr>
        <p:spPr>
          <a:xfrm>
            <a:off x="4389120" y="1901952"/>
            <a:ext cx="21031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89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−64,692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4389120" y="271576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4E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 VOTES MISSING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389120" y="30175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LGA EC8A vs declared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6702552" y="1792224"/>
            <a:ext cx="2286000" cy="2066544"/>
          </a:xfrm>
          <a:prstGeom prst="rect">
            <a:avLst/>
          </a:prstGeom>
          <a:solidFill>
            <a:srgbClr val="0F2740"/>
          </a:solidFill>
          <a:ln w="12700">
            <a:solidFill>
              <a:srgbClr val="C8DD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702552" y="1792224"/>
            <a:ext cx="2286000" cy="73152"/>
          </a:xfrm>
          <a:prstGeom prst="rect">
            <a:avLst/>
          </a:prstGeom>
          <a:solidFill>
            <a:srgbClr val="E8893A"/>
          </a:solidFill>
          <a:ln/>
        </p:spPr>
      </p:sp>
      <p:sp>
        <p:nvSpPr>
          <p:cNvPr id="24" name="Text 22"/>
          <p:cNvSpPr/>
          <p:nvPr/>
        </p:nvSpPr>
        <p:spPr>
          <a:xfrm>
            <a:off x="6793992" y="1901952"/>
            <a:ext cx="21031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89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+63,259</a:t>
            </a:r>
            <a:endParaRPr lang="en-US" sz="3600" dirty="0"/>
          </a:p>
        </p:txBody>
      </p:sp>
      <p:sp>
        <p:nvSpPr>
          <p:cNvPr id="25" name="Text 23"/>
          <p:cNvSpPr/>
          <p:nvPr/>
        </p:nvSpPr>
        <p:spPr>
          <a:xfrm>
            <a:off x="6793992" y="271576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4E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APC VOTES ADDED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793992" y="30175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INEC declared vs EC8A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365760" y="393192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A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CCIJ / Veza News  —  169,328 EC8A forms digitized from Obio-Akpor LGA  [PRI1, INV1]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365760" y="4169664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A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of five Rivers State LGAs where EC8A forms show 110,000+ more APC votes than recorded at polling units. [INV1]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30" name="Text 28"/>
          <p:cNvSpPr/>
          <p:nvPr/>
        </p:nvSpPr>
        <p:spPr>
          <a:xfrm>
            <a:off x="320040" y="487375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4E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ADC 2026 Hackathon  ·  Track 3: Checks, Accountability &amp; Judicial Independence  ·  Team 16  ·  E Don Kast / StayGIS LLC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93776"/>
          </a:xfrm>
          <a:prstGeom prst="rect">
            <a:avLst/>
          </a:prstGeom>
          <a:solidFill>
            <a:srgbClr val="071629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E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Polling Unit 32/15/04/015  ·  Ward 4, Rumuodomaya  ·  Primary Source Evidence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594360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Polling Agent's Cry for Help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8412480" cy="32004"/>
          </a:xfrm>
          <a:prstGeom prst="rect">
            <a:avLst/>
          </a:prstGeom>
          <a:solidFill>
            <a:srgbClr val="00A99D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115568"/>
            <a:ext cx="4434840" cy="3127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8DD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115568"/>
            <a:ext cx="64008" cy="3127248"/>
          </a:xfrm>
          <a:prstGeom prst="rect">
            <a:avLst/>
          </a:prstGeom>
          <a:solidFill>
            <a:srgbClr val="E8893A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170432"/>
            <a:ext cx="4169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50" kern="0" dirty="0">
                <a:solidFill>
                  <a:srgbClr val="E88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EXHIBIT A  —  DocumentCloud  ·  PU 32/15/04/015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02920" y="1426464"/>
            <a:ext cx="4169664" cy="26517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To: The Director ICT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INEC, Rivers State</a:t>
            </a:r>
            <a:endParaRPr lang="en-US" sz="950" dirty="0"/>
          </a:p>
          <a:p>
            <a:pPr algn="l" indent="0" marL="0">
              <a:buNone/>
            </a:pP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Sir,</a:t>
            </a:r>
            <a:endParaRPr lang="en-US" sz="950" dirty="0"/>
          </a:p>
          <a:p>
            <a:pPr algn="l" indent="0" marL="0">
              <a:buNone/>
            </a:pP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I, Okafor Sophia, polling agent of Labour Party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 Ward 4 Rumuodomaya, write to report that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presidential result booklets were NOT made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available at nine (9) polling units in this ward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election day, 25th February 2023.</a:t>
            </a:r>
            <a:endParaRPr lang="en-US" sz="950" dirty="0"/>
          </a:p>
          <a:p>
            <a:pPr algn="l" indent="0" marL="0">
              <a:buNone/>
            </a:pP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 request your urgent investigation into this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matter as results cannot be collated without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these booklets.</a:t>
            </a:r>
            <a:endParaRPr lang="en-US" sz="950" dirty="0"/>
          </a:p>
          <a:p>
            <a:pPr algn="l" indent="0" marL="0">
              <a:buNone/>
            </a:pP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Signed: Okafor Sophia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2C3E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Date: 28-02-2023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974336" y="1115568"/>
            <a:ext cx="3803904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8DD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974336" y="1115568"/>
            <a:ext cx="64008" cy="658368"/>
          </a:xfrm>
          <a:prstGeom prst="rect">
            <a:avLst/>
          </a:prstGeom>
          <a:solidFill>
            <a:srgbClr val="00A99D"/>
          </a:solidFill>
          <a:ln/>
        </p:spPr>
      </p:sp>
      <p:sp>
        <p:nvSpPr>
          <p:cNvPr id="12" name="Text 10"/>
          <p:cNvSpPr/>
          <p:nvPr/>
        </p:nvSpPr>
        <p:spPr>
          <a:xfrm>
            <a:off x="5102352" y="1170432"/>
            <a:ext cx="3547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80" kern="0" dirty="0">
                <a:solidFill>
                  <a:srgbClr val="5A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102352" y="1344168"/>
            <a:ext cx="3547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Okafor Sophia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102352" y="1563624"/>
            <a:ext cx="3547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A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 Polling Agent, Ward 4, Rumuodomaya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974336" y="1883664"/>
            <a:ext cx="3803904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8DD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974336" y="1883664"/>
            <a:ext cx="64008" cy="658368"/>
          </a:xfrm>
          <a:prstGeom prst="rect">
            <a:avLst/>
          </a:prstGeom>
          <a:solidFill>
            <a:srgbClr val="00A99D"/>
          </a:solidFill>
          <a:ln/>
        </p:spPr>
      </p:sp>
      <p:sp>
        <p:nvSpPr>
          <p:cNvPr id="17" name="Text 15"/>
          <p:cNvSpPr/>
          <p:nvPr/>
        </p:nvSpPr>
        <p:spPr>
          <a:xfrm>
            <a:off x="5102352" y="1938528"/>
            <a:ext cx="3547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80" kern="0" dirty="0">
                <a:solidFill>
                  <a:srgbClr val="5A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ADDRESSED TO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102352" y="2112264"/>
            <a:ext cx="3547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INEC ICT Director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102352" y="2331720"/>
            <a:ext cx="3547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A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Rivers State — on record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974336" y="2651760"/>
            <a:ext cx="3803904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8DD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974336" y="2651760"/>
            <a:ext cx="64008" cy="658368"/>
          </a:xfrm>
          <a:prstGeom prst="rect">
            <a:avLst/>
          </a:prstGeom>
          <a:solidFill>
            <a:srgbClr val="00A99D"/>
          </a:solidFill>
          <a:ln/>
        </p:spPr>
      </p:sp>
      <p:sp>
        <p:nvSpPr>
          <p:cNvPr id="22" name="Text 20"/>
          <p:cNvSpPr/>
          <p:nvPr/>
        </p:nvSpPr>
        <p:spPr>
          <a:xfrm>
            <a:off x="5102352" y="2706624"/>
            <a:ext cx="3547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80" kern="0" dirty="0">
                <a:solidFill>
                  <a:srgbClr val="5A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FILED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5102352" y="2880360"/>
            <a:ext cx="3547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28 Feb 2023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102352" y="3099816"/>
            <a:ext cx="3547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A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days after polling day — contemporaneous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974336" y="3419856"/>
            <a:ext cx="3803904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8DD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974336" y="3419856"/>
            <a:ext cx="64008" cy="658368"/>
          </a:xfrm>
          <a:prstGeom prst="rect">
            <a:avLst/>
          </a:prstGeom>
          <a:solidFill>
            <a:srgbClr val="00A99D"/>
          </a:solidFill>
          <a:ln/>
        </p:spPr>
      </p:sp>
      <p:sp>
        <p:nvSpPr>
          <p:cNvPr id="27" name="Text 25"/>
          <p:cNvSpPr/>
          <p:nvPr/>
        </p:nvSpPr>
        <p:spPr>
          <a:xfrm>
            <a:off x="5102352" y="3474720"/>
            <a:ext cx="3547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80" kern="0" dirty="0">
                <a:solidFill>
                  <a:srgbClr val="5A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102352" y="3648456"/>
            <a:ext cx="3547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 polling units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102352" y="3867912"/>
            <a:ext cx="3547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A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 NO result booklets on election day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974336" y="4206240"/>
            <a:ext cx="3803904" cy="512064"/>
          </a:xfrm>
          <a:prstGeom prst="rect">
            <a:avLst/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5084064" y="4233672"/>
            <a:ext cx="3584448" cy="4572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0A9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a reconstruction — it is contemporaneous evidence of suppression filed on election day and archived on DocumentCloud.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33" name="Text 31"/>
          <p:cNvSpPr/>
          <p:nvPr/>
        </p:nvSpPr>
        <p:spPr>
          <a:xfrm>
            <a:off x="320040" y="487375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4E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ADC 2026 Hackathon  ·  Track 3: Checks, Accountability &amp; Judicial Independence  ·  Team 16  ·  E Don Kast / StayGIS LLC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93776"/>
          </a:xfrm>
          <a:prstGeom prst="rect">
            <a:avLst/>
          </a:prstGeom>
          <a:solidFill>
            <a:srgbClr val="071629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E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Platform  ·  AI Extraction Layer  ·  Parallel to INEC IReV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Solution: E Don Kast + AI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4023360" cy="3383280"/>
          </a:xfrm>
          <a:prstGeom prst="rect">
            <a:avLst/>
          </a:prstGeom>
          <a:solidFill>
            <a:srgbClr val="0F2740"/>
          </a:solidFill>
          <a:ln w="12700">
            <a:solidFill>
              <a:srgbClr val="C8DD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097280"/>
            <a:ext cx="4023360" cy="54864"/>
          </a:xfrm>
          <a:prstGeom prst="rect">
            <a:avLst/>
          </a:prstGeom>
          <a:solidFill>
            <a:srgbClr val="00A99D"/>
          </a:solidFill>
          <a:ln/>
        </p:spPr>
      </p:sp>
      <p:sp>
        <p:nvSpPr>
          <p:cNvPr id="7" name="Text 5"/>
          <p:cNvSpPr/>
          <p:nvPr/>
        </p:nvSpPr>
        <p:spPr>
          <a:xfrm>
            <a:off x="512064" y="117043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150" kern="0" dirty="0">
                <a:solidFill>
                  <a:srgbClr val="00A9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IN PRODUCTION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12064" y="13898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 Don Kast  ·  app.edonkast.com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30352" y="1737360"/>
            <a:ext cx="164592" cy="164592"/>
          </a:xfrm>
          <a:prstGeom prst="rect">
            <a:avLst/>
          </a:prstGeom>
          <a:solidFill>
            <a:srgbClr val="00A99D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1737360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1F3A"/>
                </a:solidFill>
              </a:rPr>
              <a:t>✓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58952" y="1746504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D4E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Nigeria-wide results map (StayGIS PMTiles)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30352" y="2020824"/>
            <a:ext cx="164592" cy="164592"/>
          </a:xfrm>
          <a:prstGeom prst="rect">
            <a:avLst/>
          </a:prstGeom>
          <a:solidFill>
            <a:srgbClr val="00A99D"/>
          </a:solidFill>
          <a:ln/>
        </p:spPr>
      </p:sp>
      <p:sp>
        <p:nvSpPr>
          <p:cNvPr id="13" name="Text 11"/>
          <p:cNvSpPr/>
          <p:nvPr/>
        </p:nvSpPr>
        <p:spPr>
          <a:xfrm>
            <a:off x="530352" y="202082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1F3A"/>
                </a:solidFill>
              </a:rPr>
              <a:t>✓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58952" y="2029968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D4E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EC8A photo submission by party agents and observers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30352" y="2304288"/>
            <a:ext cx="164592" cy="164592"/>
          </a:xfrm>
          <a:prstGeom prst="rect">
            <a:avLst/>
          </a:prstGeom>
          <a:solidFill>
            <a:srgbClr val="00A99D"/>
          </a:solidFill>
          <a:ln/>
        </p:spPr>
      </p:sp>
      <p:sp>
        <p:nvSpPr>
          <p:cNvPr id="16" name="Text 14"/>
          <p:cNvSpPr/>
          <p:nvPr/>
        </p:nvSpPr>
        <p:spPr>
          <a:xfrm>
            <a:off x="530352" y="2304288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1F3A"/>
                </a:solidFill>
              </a:rPr>
              <a:t>✓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58952" y="2313432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D4E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drilldown: State → LGA → Ward → Polling Unit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30352" y="2587752"/>
            <a:ext cx="164592" cy="164592"/>
          </a:xfrm>
          <a:prstGeom prst="rect">
            <a:avLst/>
          </a:prstGeom>
          <a:solidFill>
            <a:srgbClr val="00A99D"/>
          </a:solidFill>
          <a:ln/>
        </p:spPr>
      </p:sp>
      <p:sp>
        <p:nvSpPr>
          <p:cNvPr id="19" name="Text 17"/>
          <p:cNvSpPr/>
          <p:nvPr/>
        </p:nvSpPr>
        <p:spPr>
          <a:xfrm>
            <a:off x="530352" y="2587752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1F3A"/>
                </a:solidFill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58952" y="259689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D4E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reporting: BVAS failures, security incidents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30352" y="2871216"/>
            <a:ext cx="164592" cy="164592"/>
          </a:xfrm>
          <a:prstGeom prst="rect">
            <a:avLst/>
          </a:prstGeom>
          <a:solidFill>
            <a:srgbClr val="00A99D"/>
          </a:solidFill>
          <a:ln/>
        </p:spPr>
      </p:sp>
      <p:sp>
        <p:nvSpPr>
          <p:cNvPr id="22" name="Text 20"/>
          <p:cNvSpPr/>
          <p:nvPr/>
        </p:nvSpPr>
        <p:spPr>
          <a:xfrm>
            <a:off x="530352" y="287121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1F3A"/>
                </a:solidFill>
              </a:rPr>
              <a:t>✓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58952" y="288036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D4E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S3 (Africa region) backend, production API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30352" y="3154680"/>
            <a:ext cx="164592" cy="164592"/>
          </a:xfrm>
          <a:prstGeom prst="rect">
            <a:avLst/>
          </a:prstGeom>
          <a:solidFill>
            <a:srgbClr val="00A99D"/>
          </a:solidFill>
          <a:ln/>
        </p:spPr>
      </p:sp>
      <p:sp>
        <p:nvSpPr>
          <p:cNvPr id="25" name="Text 23"/>
          <p:cNvSpPr/>
          <p:nvPr/>
        </p:nvSpPr>
        <p:spPr>
          <a:xfrm>
            <a:off x="530352" y="3154680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1F3A"/>
                </a:solidFill>
              </a:rPr>
              <a:t>✓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58952" y="3163824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D4E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Authenticated collectors + public open submissions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72000" y="1097280"/>
            <a:ext cx="4206240" cy="3383280"/>
          </a:xfrm>
          <a:prstGeom prst="rect">
            <a:avLst/>
          </a:prstGeom>
          <a:solidFill>
            <a:srgbClr val="0F2740"/>
          </a:solidFill>
          <a:ln w="12700">
            <a:solidFill>
              <a:srgbClr val="C8DD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572000" y="1097280"/>
            <a:ext cx="4206240" cy="54864"/>
          </a:xfrm>
          <a:prstGeom prst="rect">
            <a:avLst/>
          </a:prstGeom>
          <a:solidFill>
            <a:srgbClr val="00A99D"/>
          </a:solidFill>
          <a:ln/>
        </p:spPr>
      </p:sp>
      <p:sp>
        <p:nvSpPr>
          <p:cNvPr id="29" name="Text 27"/>
          <p:cNvSpPr/>
          <p:nvPr/>
        </p:nvSpPr>
        <p:spPr>
          <a:xfrm>
            <a:off x="4718304" y="1170432"/>
            <a:ext cx="3895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150" kern="0" dirty="0">
                <a:solidFill>
                  <a:srgbClr val="00A9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 —  Machine Learning OCR Layer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718304" y="1463040"/>
            <a:ext cx="384048" cy="384048"/>
          </a:xfrm>
          <a:prstGeom prst="oval">
            <a:avLst/>
          </a:prstGeom>
          <a:solidFill>
            <a:srgbClr val="00A99D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718304" y="1472184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175504" y="1481328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Observer photographs EC8A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175504" y="1700784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D4E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workflow as IReV upload — no new hardware required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882896" y="1865376"/>
            <a:ext cx="36576" cy="438912"/>
          </a:xfrm>
          <a:prstGeom prst="rect">
            <a:avLst/>
          </a:prstGeom>
          <a:solidFill>
            <a:srgbClr val="007A72"/>
          </a:solidFill>
          <a:ln/>
        </p:spPr>
      </p:sp>
      <p:sp>
        <p:nvSpPr>
          <p:cNvPr id="35" name="Shape 33"/>
          <p:cNvSpPr/>
          <p:nvPr/>
        </p:nvSpPr>
        <p:spPr>
          <a:xfrm>
            <a:off x="4718304" y="2304288"/>
            <a:ext cx="384048" cy="384048"/>
          </a:xfrm>
          <a:prstGeom prst="oval">
            <a:avLst/>
          </a:prstGeom>
          <a:solidFill>
            <a:srgbClr val="00A99D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4718304" y="2313432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5175504" y="232257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ML model extracts votes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5175504" y="2542032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D4E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&amp; deep learning OCR reads handwritten LP &amp; APC figures; cross-checks numbers vs words column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82896" y="2706624"/>
            <a:ext cx="36576" cy="438912"/>
          </a:xfrm>
          <a:prstGeom prst="rect">
            <a:avLst/>
          </a:prstGeom>
          <a:solidFill>
            <a:srgbClr val="007A72"/>
          </a:solidFill>
          <a:ln/>
        </p:spPr>
      </p:sp>
      <p:sp>
        <p:nvSpPr>
          <p:cNvPr id="40" name="Shape 38"/>
          <p:cNvSpPr/>
          <p:nvPr/>
        </p:nvSpPr>
        <p:spPr>
          <a:xfrm>
            <a:off x="4718304" y="3145536"/>
            <a:ext cx="384048" cy="384048"/>
          </a:xfrm>
          <a:prstGeom prst="oval">
            <a:avLst/>
          </a:prstGeom>
          <a:solidFill>
            <a:srgbClr val="00A99D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4718304" y="315468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5175504" y="3163824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Divergence flagged instantly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5175504" y="338328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D4E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Don Kast crowd total vs IReV declaration — any gap surfaces immediately, not months later in court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5760" y="4553712"/>
            <a:ext cx="8412480" cy="365760"/>
          </a:xfrm>
          <a:prstGeom prst="rect">
            <a:avLst/>
          </a:prstGeom>
          <a:solidFill>
            <a:srgbClr val="00A99D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502920" y="4572000"/>
            <a:ext cx="8229600" cy="3291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Electoral Act 2026 mandates IReV transmission. E Don Kast is the independent verification layer that enforces it.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47" name="Text 45"/>
          <p:cNvSpPr/>
          <p:nvPr/>
        </p:nvSpPr>
        <p:spPr>
          <a:xfrm>
            <a:off x="320040" y="487375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4E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ADC 2026 Hackathon  ·  Track 3: Checks, Accountability &amp; Judicial Independence  ·  Team 16  ·  E Don Kast / StayGIS LLC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93776"/>
          </a:xfrm>
          <a:prstGeom prst="rect">
            <a:avLst/>
          </a:prstGeom>
          <a:solidFill>
            <a:srgbClr val="071629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E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Must Act — and Who Can Make It Happen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585216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Actor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8412480" cy="32004"/>
          </a:xfrm>
          <a:prstGeom prst="rect">
            <a:avLst/>
          </a:prstGeom>
          <a:solidFill>
            <a:srgbClr val="00A99D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133856"/>
            <a:ext cx="2670048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C8DD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133856"/>
            <a:ext cx="2670048" cy="91440"/>
          </a:xfrm>
          <a:prstGeom prst="rect">
            <a:avLst/>
          </a:prstGeom>
          <a:solidFill>
            <a:srgbClr val="00A99D"/>
          </a:solidFill>
          <a:ln/>
        </p:spPr>
      </p:sp>
      <p:sp>
        <p:nvSpPr>
          <p:cNvPr id="8" name="Text 6"/>
          <p:cNvSpPr/>
          <p:nvPr/>
        </p:nvSpPr>
        <p:spPr>
          <a:xfrm>
            <a:off x="493776" y="1243584"/>
            <a:ext cx="24140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INEC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93776" y="1673352"/>
            <a:ext cx="2414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80" kern="0" dirty="0">
                <a:solidFill>
                  <a:srgbClr val="00A9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REGULATOR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93776" y="1874520"/>
            <a:ext cx="2414016" cy="27432"/>
          </a:xfrm>
          <a:prstGeom prst="rect">
            <a:avLst/>
          </a:prstGeom>
          <a:solidFill>
            <a:srgbClr val="C8DDE0"/>
          </a:solidFill>
          <a:ln/>
        </p:spPr>
      </p:sp>
      <p:sp>
        <p:nvSpPr>
          <p:cNvPr id="11" name="Shape 9"/>
          <p:cNvSpPr/>
          <p:nvPr/>
        </p:nvSpPr>
        <p:spPr>
          <a:xfrm>
            <a:off x="493776" y="1965960"/>
            <a:ext cx="118872" cy="118872"/>
          </a:xfrm>
          <a:prstGeom prst="oval">
            <a:avLst/>
          </a:prstGeom>
          <a:solidFill>
            <a:srgbClr val="00A99D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" y="1947672"/>
            <a:ext cx="22494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78 CFRN: transparent result collation required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93776" y="2496312"/>
            <a:ext cx="118872" cy="118872"/>
          </a:xfrm>
          <a:prstGeom prst="oval">
            <a:avLst/>
          </a:prstGeom>
          <a:solidFill>
            <a:srgbClr val="00A99D"/>
          </a:solidFill>
          <a:ln/>
        </p:spPr>
      </p:sp>
      <p:sp>
        <p:nvSpPr>
          <p:cNvPr id="14" name="Text 12"/>
          <p:cNvSpPr/>
          <p:nvPr/>
        </p:nvSpPr>
        <p:spPr>
          <a:xfrm>
            <a:off x="667512" y="2478024"/>
            <a:ext cx="22494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Electoral Act 2026 now legally mandates EC8A transmission — INEC must implement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93776" y="3026664"/>
            <a:ext cx="118872" cy="118872"/>
          </a:xfrm>
          <a:prstGeom prst="oval">
            <a:avLst/>
          </a:prstGeom>
          <a:solidFill>
            <a:srgbClr val="00A99D"/>
          </a:solidFill>
          <a:ln/>
        </p:spPr>
      </p:sp>
      <p:sp>
        <p:nvSpPr>
          <p:cNvPr id="16" name="Text 14"/>
          <p:cNvSpPr/>
          <p:nvPr/>
        </p:nvSpPr>
        <p:spPr>
          <a:xfrm>
            <a:off x="667512" y="3008376"/>
            <a:ext cx="22494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IReV portal upgradeable for crowd-sourced verified images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93776" y="3557016"/>
            <a:ext cx="118872" cy="118872"/>
          </a:xfrm>
          <a:prstGeom prst="oval">
            <a:avLst/>
          </a:prstGeom>
          <a:solidFill>
            <a:srgbClr val="00A99D"/>
          </a:solidFill>
          <a:ln/>
        </p:spPr>
      </p:sp>
      <p:sp>
        <p:nvSpPr>
          <p:cNvPr id="18" name="Text 16"/>
          <p:cNvSpPr/>
          <p:nvPr/>
        </p:nvSpPr>
        <p:spPr>
          <a:xfrm>
            <a:off x="667512" y="3538728"/>
            <a:ext cx="22494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BVAS logs must become publicly auditable in real time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200400" y="1133856"/>
            <a:ext cx="2670048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C8DD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200400" y="1133856"/>
            <a:ext cx="2670048" cy="91440"/>
          </a:xfrm>
          <a:prstGeom prst="rect">
            <a:avLst/>
          </a:prstGeom>
          <a:solidFill>
            <a:srgbClr val="E8893A"/>
          </a:solidFill>
          <a:ln/>
        </p:spPr>
      </p:sp>
      <p:sp>
        <p:nvSpPr>
          <p:cNvPr id="21" name="Text 19"/>
          <p:cNvSpPr/>
          <p:nvPr/>
        </p:nvSpPr>
        <p:spPr>
          <a:xfrm>
            <a:off x="3328416" y="1243584"/>
            <a:ext cx="24140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Civil Society</a:t>
            </a:r>
            <a:endParaRPr lang="en-US" sz="1600" dirty="0"/>
          </a:p>
          <a:p>
            <a:pPr algn="l"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 Media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328416" y="1673352"/>
            <a:ext cx="2414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80" kern="0" dirty="0">
                <a:solidFill>
                  <a:srgbClr val="E88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PARTNERS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328416" y="1874520"/>
            <a:ext cx="2414016" cy="27432"/>
          </a:xfrm>
          <a:prstGeom prst="rect">
            <a:avLst/>
          </a:prstGeom>
          <a:solidFill>
            <a:srgbClr val="C8DDE0"/>
          </a:solidFill>
          <a:ln/>
        </p:spPr>
      </p:sp>
      <p:sp>
        <p:nvSpPr>
          <p:cNvPr id="24" name="Shape 22"/>
          <p:cNvSpPr/>
          <p:nvPr/>
        </p:nvSpPr>
        <p:spPr>
          <a:xfrm>
            <a:off x="3328416" y="1965960"/>
            <a:ext cx="118872" cy="118872"/>
          </a:xfrm>
          <a:prstGeom prst="oval">
            <a:avLst/>
          </a:prstGeom>
          <a:solidFill>
            <a:srgbClr val="E8893A"/>
          </a:solidFill>
          <a:ln/>
        </p:spPr>
      </p:sp>
      <p:sp>
        <p:nvSpPr>
          <p:cNvPr id="25" name="Text 23"/>
          <p:cNvSpPr/>
          <p:nvPr/>
        </p:nvSpPr>
        <p:spPr>
          <a:xfrm>
            <a:off x="3502152" y="1947672"/>
            <a:ext cx="22494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CCIJ digitized 169k EC8A forms — infrastructure already exists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328416" y="2496312"/>
            <a:ext cx="118872" cy="118872"/>
          </a:xfrm>
          <a:prstGeom prst="oval">
            <a:avLst/>
          </a:prstGeom>
          <a:solidFill>
            <a:srgbClr val="E8893A"/>
          </a:solidFill>
          <a:ln/>
        </p:spPr>
      </p:sp>
      <p:sp>
        <p:nvSpPr>
          <p:cNvPr id="27" name="Text 25"/>
          <p:cNvSpPr/>
          <p:nvPr/>
        </p:nvSpPr>
        <p:spPr>
          <a:xfrm>
            <a:off x="3502152" y="2478024"/>
            <a:ext cx="22494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Dataphyte, Veza News: publish discrepancy analysis on election night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328416" y="3026664"/>
            <a:ext cx="118872" cy="118872"/>
          </a:xfrm>
          <a:prstGeom prst="oval">
            <a:avLst/>
          </a:prstGeom>
          <a:solidFill>
            <a:srgbClr val="E8893A"/>
          </a:solidFill>
          <a:ln/>
        </p:spPr>
      </p:sp>
      <p:sp>
        <p:nvSpPr>
          <p:cNvPr id="29" name="Text 27"/>
          <p:cNvSpPr/>
          <p:nvPr/>
        </p:nvSpPr>
        <p:spPr>
          <a:xfrm>
            <a:off x="3502152" y="3008376"/>
            <a:ext cx="22494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 reporters with phones become election observers at scale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328416" y="3557016"/>
            <a:ext cx="118872" cy="118872"/>
          </a:xfrm>
          <a:prstGeom prst="oval">
            <a:avLst/>
          </a:prstGeom>
          <a:solidFill>
            <a:srgbClr val="E8893A"/>
          </a:solidFill>
          <a:ln/>
        </p:spPr>
      </p:sp>
      <p:sp>
        <p:nvSpPr>
          <p:cNvPr id="31" name="Text 29"/>
          <p:cNvSpPr/>
          <p:nvPr/>
        </p:nvSpPr>
        <p:spPr>
          <a:xfrm>
            <a:off x="3502152" y="3538728"/>
            <a:ext cx="22494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 legal coalition: EC8A forms as court-ready documentary evidence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35040" y="1133856"/>
            <a:ext cx="2670048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C8DD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035040" y="1133856"/>
            <a:ext cx="2670048" cy="91440"/>
          </a:xfrm>
          <a:prstGeom prst="rect">
            <a:avLst/>
          </a:prstGeom>
          <a:solidFill>
            <a:srgbClr val="5B8DB8"/>
          </a:solidFill>
          <a:ln/>
        </p:spPr>
      </p:sp>
      <p:sp>
        <p:nvSpPr>
          <p:cNvPr id="34" name="Text 32"/>
          <p:cNvSpPr/>
          <p:nvPr/>
        </p:nvSpPr>
        <p:spPr>
          <a:xfrm>
            <a:off x="6163056" y="1243584"/>
            <a:ext cx="24140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Diaspora</a:t>
            </a:r>
            <a:endParaRPr lang="en-US" sz="1600" dirty="0"/>
          </a:p>
          <a:p>
            <a:pPr algn="l"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 Donors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6163056" y="1673352"/>
            <a:ext cx="2414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80" kern="0" dirty="0">
                <a:solidFill>
                  <a:srgbClr val="5B8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ENABLERS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6163056" y="1874520"/>
            <a:ext cx="2414016" cy="27432"/>
          </a:xfrm>
          <a:prstGeom prst="rect">
            <a:avLst/>
          </a:prstGeom>
          <a:solidFill>
            <a:srgbClr val="C8DDE0"/>
          </a:solidFill>
          <a:ln/>
        </p:spPr>
      </p:sp>
      <p:sp>
        <p:nvSpPr>
          <p:cNvPr id="37" name="Shape 35"/>
          <p:cNvSpPr/>
          <p:nvPr/>
        </p:nvSpPr>
        <p:spPr>
          <a:xfrm>
            <a:off x="6163056" y="1965960"/>
            <a:ext cx="118872" cy="118872"/>
          </a:xfrm>
          <a:prstGeom prst="oval">
            <a:avLst/>
          </a:prstGeom>
          <a:solidFill>
            <a:srgbClr val="5B8DB8"/>
          </a:solidFill>
          <a:ln/>
        </p:spPr>
      </p:sp>
      <p:sp>
        <p:nvSpPr>
          <p:cNvPr id="38" name="Text 36"/>
          <p:cNvSpPr/>
          <p:nvPr/>
        </p:nvSpPr>
        <p:spPr>
          <a:xfrm>
            <a:off x="6336792" y="1947672"/>
            <a:ext cx="22494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 million Nigerians in the US — motivated voters and donors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163056" y="2496312"/>
            <a:ext cx="118872" cy="118872"/>
          </a:xfrm>
          <a:prstGeom prst="oval">
            <a:avLst/>
          </a:prstGeom>
          <a:solidFill>
            <a:srgbClr val="5B8DB8"/>
          </a:solidFill>
          <a:ln/>
        </p:spPr>
      </p:sp>
      <p:sp>
        <p:nvSpPr>
          <p:cNvPr id="40" name="Text 38"/>
          <p:cNvSpPr/>
          <p:nvPr/>
        </p:nvSpPr>
        <p:spPr>
          <a:xfrm>
            <a:off x="6336792" y="2478024"/>
            <a:ext cx="22494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USAID, Open Society: fund civic tech for electoral integrity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163056" y="3026664"/>
            <a:ext cx="118872" cy="118872"/>
          </a:xfrm>
          <a:prstGeom prst="oval">
            <a:avLst/>
          </a:prstGeom>
          <a:solidFill>
            <a:srgbClr val="5B8DB8"/>
          </a:solidFill>
          <a:ln/>
        </p:spPr>
      </p:sp>
      <p:sp>
        <p:nvSpPr>
          <p:cNvPr id="42" name="Text 40"/>
          <p:cNvSpPr/>
          <p:nvPr/>
        </p:nvSpPr>
        <p:spPr>
          <a:xfrm>
            <a:off x="6336792" y="3008376"/>
            <a:ext cx="22494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Harvard Kennedy School: policy design and diaspora training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163056" y="3557016"/>
            <a:ext cx="118872" cy="118872"/>
          </a:xfrm>
          <a:prstGeom prst="oval">
            <a:avLst/>
          </a:prstGeom>
          <a:solidFill>
            <a:srgbClr val="5B8DB8"/>
          </a:solidFill>
          <a:ln/>
        </p:spPr>
      </p:sp>
      <p:sp>
        <p:nvSpPr>
          <p:cNvPr id="44" name="Text 42"/>
          <p:cNvSpPr/>
          <p:nvPr/>
        </p:nvSpPr>
        <p:spPr>
          <a:xfrm>
            <a:off x="6336792" y="3538728"/>
            <a:ext cx="22494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StayGIS LLC: technology development and deployment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46" name="Text 44"/>
          <p:cNvSpPr/>
          <p:nvPr/>
        </p:nvSpPr>
        <p:spPr>
          <a:xfrm>
            <a:off x="320040" y="487375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4E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ADC 2026 Hackathon  ·  Track 3: Checks, Accountability &amp; Judicial Independence  ·  Team 16  ·  E Don Kast / StayGIS LLC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93776"/>
          </a:xfrm>
          <a:prstGeom prst="rect">
            <a:avLst/>
          </a:prstGeom>
          <a:solidFill>
            <a:srgbClr val="071629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E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Days from Policy Approval to Live Deployment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585216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Implementation Plan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8412480" cy="32004"/>
          </a:xfrm>
          <a:prstGeom prst="rect">
            <a:avLst/>
          </a:prstGeom>
          <a:solidFill>
            <a:srgbClr val="00A99D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115568"/>
            <a:ext cx="2651760" cy="3584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8DD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115568"/>
            <a:ext cx="2651760" cy="475488"/>
          </a:xfrm>
          <a:prstGeom prst="rect">
            <a:avLst/>
          </a:prstGeom>
          <a:solidFill>
            <a:srgbClr val="00A99D"/>
          </a:solidFill>
          <a:ln/>
        </p:spPr>
      </p:sp>
      <p:sp>
        <p:nvSpPr>
          <p:cNvPr id="8" name="Text 6"/>
          <p:cNvSpPr/>
          <p:nvPr/>
        </p:nvSpPr>
        <p:spPr>
          <a:xfrm>
            <a:off x="475488" y="1133856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01  ·  Days 1–30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75488" y="1335024"/>
            <a:ext cx="2432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&amp; Platform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5488" y="1636776"/>
            <a:ext cx="2432304" cy="27432"/>
          </a:xfrm>
          <a:prstGeom prst="rect">
            <a:avLst/>
          </a:prstGeom>
          <a:solidFill>
            <a:srgbClr val="C8DDE0"/>
          </a:solidFill>
          <a:ln/>
        </p:spPr>
      </p:sp>
      <p:sp>
        <p:nvSpPr>
          <p:cNvPr id="11" name="Shape 9"/>
          <p:cNvSpPr/>
          <p:nvPr/>
        </p:nvSpPr>
        <p:spPr>
          <a:xfrm>
            <a:off x="493776" y="1719072"/>
            <a:ext cx="118872" cy="118872"/>
          </a:xfrm>
          <a:prstGeom prst="oval">
            <a:avLst/>
          </a:prstGeom>
          <a:solidFill>
            <a:srgbClr val="C8DDE0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" y="1700784"/>
            <a:ext cx="2231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169k EC8A dataset as open data (CCIJ/Dataphyte)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93776" y="2221992"/>
            <a:ext cx="118872" cy="118872"/>
          </a:xfrm>
          <a:prstGeom prst="oval">
            <a:avLst/>
          </a:prstGeom>
          <a:solidFill>
            <a:srgbClr val="C8DDE0"/>
          </a:solidFill>
          <a:ln/>
        </p:spPr>
      </p:sp>
      <p:sp>
        <p:nvSpPr>
          <p:cNvPr id="14" name="Text 12"/>
          <p:cNvSpPr/>
          <p:nvPr/>
        </p:nvSpPr>
        <p:spPr>
          <a:xfrm>
            <a:off x="667512" y="2203704"/>
            <a:ext cx="2231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E Don Kast ward-level dashboard on Vercel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93776" y="2724912"/>
            <a:ext cx="118872" cy="118872"/>
          </a:xfrm>
          <a:prstGeom prst="oval">
            <a:avLst/>
          </a:prstGeom>
          <a:solidFill>
            <a:srgbClr val="C8DDE0"/>
          </a:solidFill>
          <a:ln/>
        </p:spPr>
      </p:sp>
      <p:sp>
        <p:nvSpPr>
          <p:cNvPr id="16" name="Text 14"/>
          <p:cNvSpPr/>
          <p:nvPr/>
        </p:nvSpPr>
        <p:spPr>
          <a:xfrm>
            <a:off x="667512" y="2706624"/>
            <a:ext cx="2231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INEC partnership MOU — IReV API access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93776" y="3227832"/>
            <a:ext cx="118872" cy="118872"/>
          </a:xfrm>
          <a:prstGeom prst="oval">
            <a:avLst/>
          </a:prstGeom>
          <a:solidFill>
            <a:srgbClr val="C8DDE0"/>
          </a:solidFill>
          <a:ln/>
        </p:spPr>
      </p:sp>
      <p:sp>
        <p:nvSpPr>
          <p:cNvPr id="18" name="Text 16"/>
          <p:cNvSpPr/>
          <p:nvPr/>
        </p:nvSpPr>
        <p:spPr>
          <a:xfrm>
            <a:off x="667512" y="3209544"/>
            <a:ext cx="2231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Harden deep learning OCR pipeline → 95%+ accuracy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93776" y="3730752"/>
            <a:ext cx="118872" cy="118872"/>
          </a:xfrm>
          <a:prstGeom prst="oval">
            <a:avLst/>
          </a:prstGeom>
          <a:solidFill>
            <a:srgbClr val="00A99D"/>
          </a:solidFill>
          <a:ln/>
        </p:spPr>
      </p:sp>
      <p:sp>
        <p:nvSpPr>
          <p:cNvPr id="20" name="Text 18"/>
          <p:cNvSpPr/>
          <p:nvPr/>
        </p:nvSpPr>
        <p:spPr>
          <a:xfrm>
            <a:off x="667512" y="3712464"/>
            <a:ext cx="2231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0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KPI: Dataset live + MOU signed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3200400" y="1115568"/>
            <a:ext cx="2651760" cy="3584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8DD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00400" y="1115568"/>
            <a:ext cx="2651760" cy="475488"/>
          </a:xfrm>
          <a:prstGeom prst="rect">
            <a:avLst/>
          </a:prstGeom>
          <a:solidFill>
            <a:srgbClr val="E8893A"/>
          </a:solidFill>
          <a:ln/>
        </p:spPr>
      </p:sp>
      <p:sp>
        <p:nvSpPr>
          <p:cNvPr id="23" name="Text 21"/>
          <p:cNvSpPr/>
          <p:nvPr/>
        </p:nvSpPr>
        <p:spPr>
          <a:xfrm>
            <a:off x="3310128" y="1133856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50" kern="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02  ·  Days 31–60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3310128" y="1335024"/>
            <a:ext cx="2432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Pilot Election</a:t>
            </a:r>
            <a:endParaRPr lang="en-US" sz="1200" dirty="0"/>
          </a:p>
          <a:p>
            <a:pPr algn="l"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Ekiti — Jun 20, 2026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310128" y="1636776"/>
            <a:ext cx="2432304" cy="27432"/>
          </a:xfrm>
          <a:prstGeom prst="rect">
            <a:avLst/>
          </a:prstGeom>
          <a:solidFill>
            <a:srgbClr val="C8DDE0"/>
          </a:solidFill>
          <a:ln/>
        </p:spPr>
      </p:sp>
      <p:sp>
        <p:nvSpPr>
          <p:cNvPr id="26" name="Shape 24"/>
          <p:cNvSpPr/>
          <p:nvPr/>
        </p:nvSpPr>
        <p:spPr>
          <a:xfrm>
            <a:off x="3328416" y="1719072"/>
            <a:ext cx="118872" cy="118872"/>
          </a:xfrm>
          <a:prstGeom prst="oval">
            <a:avLst/>
          </a:prstGeom>
          <a:solidFill>
            <a:srgbClr val="C8DDE0"/>
          </a:solidFill>
          <a:ln/>
        </p:spPr>
      </p:sp>
      <p:sp>
        <p:nvSpPr>
          <p:cNvPr id="27" name="Text 25"/>
          <p:cNvSpPr/>
          <p:nvPr/>
        </p:nvSpPr>
        <p:spPr>
          <a:xfrm>
            <a:off x="3502152" y="1700784"/>
            <a:ext cx="2231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500 citizen observers with mobile uploader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328416" y="2221992"/>
            <a:ext cx="118872" cy="118872"/>
          </a:xfrm>
          <a:prstGeom prst="oval">
            <a:avLst/>
          </a:prstGeom>
          <a:solidFill>
            <a:srgbClr val="C8DDE0"/>
          </a:solidFill>
          <a:ln/>
        </p:spPr>
      </p:sp>
      <p:sp>
        <p:nvSpPr>
          <p:cNvPr id="29" name="Text 27"/>
          <p:cNvSpPr/>
          <p:nvPr/>
        </p:nvSpPr>
        <p:spPr>
          <a:xfrm>
            <a:off x="3502152" y="2203704"/>
            <a:ext cx="2231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aggregation vs official collation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328416" y="2724912"/>
            <a:ext cx="118872" cy="118872"/>
          </a:xfrm>
          <a:prstGeom prst="oval">
            <a:avLst/>
          </a:prstGeom>
          <a:solidFill>
            <a:srgbClr val="C8DDE0"/>
          </a:solidFill>
          <a:ln/>
        </p:spPr>
      </p:sp>
      <p:sp>
        <p:nvSpPr>
          <p:cNvPr id="31" name="Text 29"/>
          <p:cNvSpPr/>
          <p:nvPr/>
        </p:nvSpPr>
        <p:spPr>
          <a:xfrm>
            <a:off x="3502152" y="2706624"/>
            <a:ext cx="2231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Discrepancy alerts to registered media partners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3328416" y="3227832"/>
            <a:ext cx="118872" cy="118872"/>
          </a:xfrm>
          <a:prstGeom prst="oval">
            <a:avLst/>
          </a:prstGeom>
          <a:solidFill>
            <a:srgbClr val="C8DDE0"/>
          </a:solidFill>
          <a:ln/>
        </p:spPr>
      </p:sp>
      <p:sp>
        <p:nvSpPr>
          <p:cNvPr id="33" name="Text 31"/>
          <p:cNvSpPr/>
          <p:nvPr/>
        </p:nvSpPr>
        <p:spPr>
          <a:xfrm>
            <a:off x="3502152" y="3209544"/>
            <a:ext cx="2231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Post-election accuracy audit and public report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3328416" y="3730752"/>
            <a:ext cx="118872" cy="118872"/>
          </a:xfrm>
          <a:prstGeom prst="oval">
            <a:avLst/>
          </a:prstGeom>
          <a:solidFill>
            <a:srgbClr val="00A99D"/>
          </a:solidFill>
          <a:ln/>
        </p:spPr>
      </p:sp>
      <p:sp>
        <p:nvSpPr>
          <p:cNvPr id="35" name="Text 33"/>
          <p:cNvSpPr/>
          <p:nvPr/>
        </p:nvSpPr>
        <p:spPr>
          <a:xfrm>
            <a:off x="3502152" y="3712464"/>
            <a:ext cx="2231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0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KPI: ≥85% ward totals verified within 6 hrs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035040" y="1115568"/>
            <a:ext cx="2651760" cy="3584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8DD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035040" y="1115568"/>
            <a:ext cx="2651760" cy="475488"/>
          </a:xfrm>
          <a:prstGeom prst="rect">
            <a:avLst/>
          </a:prstGeom>
          <a:solidFill>
            <a:srgbClr val="5B8DB8"/>
          </a:solidFill>
          <a:ln/>
        </p:spPr>
      </p:sp>
      <p:sp>
        <p:nvSpPr>
          <p:cNvPr id="38" name="Text 36"/>
          <p:cNvSpPr/>
          <p:nvPr/>
        </p:nvSpPr>
        <p:spPr>
          <a:xfrm>
            <a:off x="6144768" y="1133856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03  ·  Days 61–90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6144768" y="1335024"/>
            <a:ext cx="2432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Scale &amp; Policy</a:t>
            </a:r>
            <a:endParaRPr lang="en-US" sz="1200" dirty="0"/>
          </a:p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Osun — Aug 15, 2026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144768" y="1636776"/>
            <a:ext cx="2432304" cy="27432"/>
          </a:xfrm>
          <a:prstGeom prst="rect">
            <a:avLst/>
          </a:prstGeom>
          <a:solidFill>
            <a:srgbClr val="C8DDE0"/>
          </a:solidFill>
          <a:ln/>
        </p:spPr>
      </p:sp>
      <p:sp>
        <p:nvSpPr>
          <p:cNvPr id="41" name="Shape 39"/>
          <p:cNvSpPr/>
          <p:nvPr/>
        </p:nvSpPr>
        <p:spPr>
          <a:xfrm>
            <a:off x="6163056" y="1719072"/>
            <a:ext cx="118872" cy="118872"/>
          </a:xfrm>
          <a:prstGeom prst="oval">
            <a:avLst/>
          </a:prstGeom>
          <a:solidFill>
            <a:srgbClr val="C8DDE0"/>
          </a:solidFill>
          <a:ln/>
        </p:spPr>
      </p:sp>
      <p:sp>
        <p:nvSpPr>
          <p:cNvPr id="42" name="Text 40"/>
          <p:cNvSpPr/>
          <p:nvPr/>
        </p:nvSpPr>
        <p:spPr>
          <a:xfrm>
            <a:off x="6336792" y="1700784"/>
            <a:ext cx="2231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to 3,000+ observers for Osun pilot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6163056" y="2221992"/>
            <a:ext cx="118872" cy="118872"/>
          </a:xfrm>
          <a:prstGeom prst="oval">
            <a:avLst/>
          </a:prstGeom>
          <a:solidFill>
            <a:srgbClr val="C8DDE0"/>
          </a:solidFill>
          <a:ln/>
        </p:spPr>
      </p:sp>
      <p:sp>
        <p:nvSpPr>
          <p:cNvPr id="44" name="Text 42"/>
          <p:cNvSpPr/>
          <p:nvPr/>
        </p:nvSpPr>
        <p:spPr>
          <a:xfrm>
            <a:off x="6336792" y="2203704"/>
            <a:ext cx="2231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accuracy report to INEC and Assembly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163056" y="2724912"/>
            <a:ext cx="118872" cy="118872"/>
          </a:xfrm>
          <a:prstGeom prst="oval">
            <a:avLst/>
          </a:prstGeom>
          <a:solidFill>
            <a:srgbClr val="C8DDE0"/>
          </a:solidFill>
          <a:ln/>
        </p:spPr>
      </p:sp>
      <p:sp>
        <p:nvSpPr>
          <p:cNvPr id="46" name="Text 44"/>
          <p:cNvSpPr/>
          <p:nvPr/>
        </p:nvSpPr>
        <p:spPr>
          <a:xfrm>
            <a:off x="6336792" y="2706624"/>
            <a:ext cx="2231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INEC Act amendment — mandatory EC8A disclosure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6163056" y="3227832"/>
            <a:ext cx="118872" cy="118872"/>
          </a:xfrm>
          <a:prstGeom prst="oval">
            <a:avLst/>
          </a:prstGeom>
          <a:solidFill>
            <a:srgbClr val="C8DDE0"/>
          </a:solidFill>
          <a:ln/>
        </p:spPr>
      </p:sp>
      <p:sp>
        <p:nvSpPr>
          <p:cNvPr id="48" name="Text 46"/>
          <p:cNvSpPr/>
          <p:nvPr/>
        </p:nvSpPr>
        <p:spPr>
          <a:xfrm>
            <a:off x="6336792" y="3209544"/>
            <a:ext cx="2231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diaspora crowdfunding for 2027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6163056" y="3730752"/>
            <a:ext cx="118872" cy="118872"/>
          </a:xfrm>
          <a:prstGeom prst="oval">
            <a:avLst/>
          </a:prstGeom>
          <a:solidFill>
            <a:srgbClr val="00A99D"/>
          </a:solidFill>
          <a:ln/>
        </p:spPr>
      </p:sp>
      <p:sp>
        <p:nvSpPr>
          <p:cNvPr id="50" name="Text 48"/>
          <p:cNvSpPr/>
          <p:nvPr/>
        </p:nvSpPr>
        <p:spPr>
          <a:xfrm>
            <a:off x="6336792" y="3712464"/>
            <a:ext cx="2231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0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KPI: Bill tabled; crowdfund at $50k+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52" name="Text 50"/>
          <p:cNvSpPr/>
          <p:nvPr/>
        </p:nvSpPr>
        <p:spPr>
          <a:xfrm>
            <a:off x="320040" y="487375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4E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ADC 2026 Hackathon  ·  Track 3: Checks, Accountability &amp; Judicial Independence  ·  Team 16  ·  E Don Kast / StayGIS LLC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00A99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DEMO  —  Hold the EC8A form. Scan. Watch it count.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20040" y="658368"/>
            <a:ext cx="2359152" cy="263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DD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02336" y="71323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TO SUBMIT</a:t>
            </a:r>
            <a:endParaRPr lang="en-US" sz="900" dirty="0"/>
          </a:p>
        </p:txBody>
      </p:sp>
      <p:pic>
        <p:nvPicPr>
          <p:cNvPr id="6" name="Image 0" descr="/sessions/confident-optimistic-brahmagupta/mnt/Nigeria-2023-election-OCR/qr_uplo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978408"/>
            <a:ext cx="1719072" cy="17190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29184" y="2752344"/>
            <a:ext cx="2340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00A9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edonkast-ocr-production.up.railway.app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329184" y="2953512"/>
            <a:ext cx="2340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A71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Dashboard: /dashboard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2907792" y="64008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 Ask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2907792" y="1078992"/>
            <a:ext cx="5852160" cy="713232"/>
          </a:xfrm>
          <a:prstGeom prst="rect">
            <a:avLst/>
          </a:prstGeom>
          <a:solidFill>
            <a:srgbClr val="0F2740"/>
          </a:solidFill>
          <a:ln w="12700">
            <a:solidFill>
              <a:srgbClr val="C8DD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907792" y="1078992"/>
            <a:ext cx="548640" cy="713232"/>
          </a:xfrm>
          <a:prstGeom prst="rect">
            <a:avLst/>
          </a:prstGeom>
          <a:solidFill>
            <a:srgbClr val="00A99D"/>
          </a:solidFill>
          <a:ln/>
        </p:spPr>
      </p:sp>
      <p:sp>
        <p:nvSpPr>
          <p:cNvPr id="12" name="Text 9"/>
          <p:cNvSpPr/>
          <p:nvPr/>
        </p:nvSpPr>
        <p:spPr>
          <a:xfrm>
            <a:off x="2907792" y="126187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3520440" y="112471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INEC Partnership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3520440" y="138988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D4E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to IReV upload API for real-time EC8A verification and instant discrepancy flagging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2907792" y="1901952"/>
            <a:ext cx="5852160" cy="713232"/>
          </a:xfrm>
          <a:prstGeom prst="rect">
            <a:avLst/>
          </a:prstGeom>
          <a:solidFill>
            <a:srgbClr val="0F2740"/>
          </a:solidFill>
          <a:ln w="12700">
            <a:solidFill>
              <a:srgbClr val="C8DD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907792" y="1901952"/>
            <a:ext cx="548640" cy="713232"/>
          </a:xfrm>
          <a:prstGeom prst="rect">
            <a:avLst/>
          </a:prstGeom>
          <a:solidFill>
            <a:srgbClr val="00A99D"/>
          </a:solidFill>
          <a:ln/>
        </p:spPr>
      </p:sp>
      <p:sp>
        <p:nvSpPr>
          <p:cNvPr id="17" name="Text 14"/>
          <p:cNvSpPr/>
          <p:nvPr/>
        </p:nvSpPr>
        <p:spPr>
          <a:xfrm>
            <a:off x="2907792" y="208483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3520440" y="194767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$150k Seed Funding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3520440" y="221284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D4E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2026 pilot elections (Ekiti Jun 20, Osun Aug 15) and platform hardening to production scale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2907792" y="2724912"/>
            <a:ext cx="5852160" cy="713232"/>
          </a:xfrm>
          <a:prstGeom prst="rect">
            <a:avLst/>
          </a:prstGeom>
          <a:solidFill>
            <a:srgbClr val="0F2740"/>
          </a:solidFill>
          <a:ln w="12700">
            <a:solidFill>
              <a:srgbClr val="C8DD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2907792" y="2724912"/>
            <a:ext cx="548640" cy="713232"/>
          </a:xfrm>
          <a:prstGeom prst="rect">
            <a:avLst/>
          </a:prstGeom>
          <a:solidFill>
            <a:srgbClr val="E8893A"/>
          </a:solidFill>
          <a:ln/>
        </p:spPr>
      </p:sp>
      <p:sp>
        <p:nvSpPr>
          <p:cNvPr id="22" name="Text 19"/>
          <p:cNvSpPr/>
          <p:nvPr/>
        </p:nvSpPr>
        <p:spPr>
          <a:xfrm>
            <a:off x="2907792" y="290779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3520440" y="277063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Media Amplification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3520440" y="303580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D4E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Dataphyte, Veza News, Premium Times as live distribution partners for election-night discrepancy reporting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2907792" y="3547872"/>
            <a:ext cx="5852160" cy="713232"/>
          </a:xfrm>
          <a:prstGeom prst="rect">
            <a:avLst/>
          </a:prstGeom>
          <a:solidFill>
            <a:srgbClr val="0F2740"/>
          </a:solidFill>
          <a:ln w="12700">
            <a:solidFill>
              <a:srgbClr val="C8DD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2907792" y="3547872"/>
            <a:ext cx="548640" cy="713232"/>
          </a:xfrm>
          <a:prstGeom prst="rect">
            <a:avLst/>
          </a:prstGeom>
          <a:solidFill>
            <a:srgbClr val="E8893A"/>
          </a:solidFill>
          <a:ln/>
        </p:spPr>
      </p:sp>
      <p:sp>
        <p:nvSpPr>
          <p:cNvPr id="27" name="Text 24"/>
          <p:cNvSpPr/>
          <p:nvPr/>
        </p:nvSpPr>
        <p:spPr>
          <a:xfrm>
            <a:off x="2907792" y="373075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3520440" y="359359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Legislative Coalition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3520440" y="385876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D4E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EC8A mandatory real-time disclosure amendment under Electoral Act 2026 Section 60 — close the loophole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0" y="4837176"/>
            <a:ext cx="9144000" cy="306324"/>
          </a:xfrm>
          <a:prstGeom prst="rect">
            <a:avLst/>
          </a:prstGeom>
          <a:solidFill>
            <a:srgbClr val="071629"/>
          </a:solidFill>
          <a:ln/>
        </p:spPr>
      </p:sp>
      <p:sp>
        <p:nvSpPr>
          <p:cNvPr id="31" name="Text 28"/>
          <p:cNvSpPr/>
          <p:nvPr/>
        </p:nvSpPr>
        <p:spPr>
          <a:xfrm>
            <a:off x="274320" y="4846320"/>
            <a:ext cx="8595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4EB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femi@staygis.com  ·  app.edonkast.com  ·  ADC 2026  ·  Track 3  ·  Team 16  |  Olufemi Olamijulo  ·  Rhoda Oluwarantimi Oni  ·  Dela Michel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2026-04-17T12:30:30Z</dcterms:created>
  <dcterms:modified xsi:type="dcterms:W3CDTF">2026-04-17T12:30:30Z</dcterms:modified>
</cp:coreProperties>
</file>