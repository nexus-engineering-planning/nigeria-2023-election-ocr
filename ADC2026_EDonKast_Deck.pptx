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01E"/>
          </a:solidFill>
          <a:ln w="12700">
            <a:solidFill>
              <a:srgbClr val="0610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0"/>
            <a:ext cx="3657600" cy="2286000"/>
          </a:xfrm>
          <a:prstGeom prst="rect">
            <a:avLst/>
          </a:prstGeom>
          <a:solidFill>
            <a:srgbClr val="1A3A38">
              <a:alpha val="40000"/>
            </a:srgbClr>
          </a:solidFill>
          <a:ln w="12700">
            <a:solidFill>
              <a:srgbClr val="1A3A38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ADC 2026 POLICY HACKATHON  ·  TRACK 3  ·  TEAM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63,259 Votes That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Existed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EC8A polling-unit forms already expose a result inversion in Nigeria's 2023 election.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Don Kast reads them automatically — in real time, running parallel to INEC's IReV.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0" y="3429000"/>
            <a:ext cx="914400" cy="27432"/>
          </a:xfrm>
          <a:prstGeom prst="rect">
            <a:avLst/>
          </a:prstGeom>
          <a:solidFill>
            <a:srgbClr val="4BB5A8"/>
          </a:solidFill>
          <a:ln w="12700">
            <a:solidFill>
              <a:srgbClr val="4BB5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478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Don Kast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904488" y="3977640"/>
            <a:ext cx="1335024" cy="237744"/>
          </a:xfrm>
          <a:prstGeom prst="rect">
            <a:avLst/>
          </a:prstGeom>
          <a:solidFill>
            <a:srgbClr val="1A3A38"/>
          </a:solidFill>
          <a:ln w="6350">
            <a:solidFill>
              <a:srgbClr val="4BB5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04488" y="3977640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 app.edonkast.com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2793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platform · StayGIS LLC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Olufemi Olamijulo  ·  Rhoda Oluwarantimi Oni  ·  Dela Michel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54864" cy="502920"/>
          </a:xfrm>
          <a:prstGeom prst="rect">
            <a:avLst/>
          </a:prstGeom>
          <a:solidFill>
            <a:srgbClr val="4BB5A8"/>
          </a:solidFill>
          <a:ln w="12700">
            <a:solidFill>
              <a:srgbClr val="4BB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0624" y="5303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Nigeria's 2023 Presidential Election · Checks &amp; Accountability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 between form and declaration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INEC already uploads EC8A forms to its IReV portal. The photos are public. But IReV is passive — it stores images without extracting or verifying the numbers inside them.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official result is declared at the LGA collation centre — one step removed from the polling unit. That gap is where numbers change. In Obio-Akpor in 2023, they changed dramatically.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BVAS machines were locked out at Ward 4. EC8A result booklets went missing at 9 polling units. A party agent filed a written complaint. None of it changed the declared result.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977640" cy="1188720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914400"/>
            <a:ext cx="54864" cy="1188720"/>
          </a:xfrm>
          <a:prstGeom prst="rect">
            <a:avLst/>
          </a:prstGeom>
          <a:solidFill>
            <a:srgbClr val="4BB5A8"/>
          </a:solidFill>
          <a:ln w="12700">
            <a:solidFill>
              <a:srgbClr val="4BB5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10912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IReV has the photos — not the numbers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10912" y="133502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INEC uploads EC8A images but declared totals come from collation officers, not the forms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212848"/>
            <a:ext cx="3977640" cy="1188720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2212848"/>
            <a:ext cx="54864" cy="1188720"/>
          </a:xfrm>
          <a:prstGeom prst="rect">
            <a:avLst/>
          </a:prstGeom>
          <a:solidFill>
            <a:srgbClr val="4BB5A8"/>
          </a:solidFill>
          <a:ln w="12700">
            <a:solidFill>
              <a:srgbClr val="4BB5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Collation is the chokepoint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10912" y="263347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LGA collation centres aggregate polling-unit results — one officer, behind closed doors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511296"/>
            <a:ext cx="3977640" cy="1188720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511296"/>
            <a:ext cx="54864" cy="1188720"/>
          </a:xfrm>
          <a:prstGeom prst="rect">
            <a:avLst/>
          </a:prstGeom>
          <a:solidFill>
            <a:srgbClr val="4BB5A8"/>
          </a:solidFill>
          <a:ln w="12700">
            <a:solidFill>
              <a:srgbClr val="4BB5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3602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parallel count exists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10912" y="39319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a real-time independent extraction, discrepancies only surface months later in court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ADC 2026 Hackathon · Track 3: Checks, Accountability &amp; Judicial Independence · Team 16 · E Don Kast / StayGIS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54864" cy="502920"/>
          </a:xfrm>
          <a:prstGeom prst="rect">
            <a:avLst/>
          </a:prstGeom>
          <a:solidFill>
            <a:srgbClr val="4BB5A8"/>
          </a:solidFill>
          <a:ln w="12700">
            <a:solidFill>
              <a:srgbClr val="4BB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Evidence: Numbers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0624" y="5303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Ward 4 (Rumuodomaya) · Obio-Akpor LGA · Rivers State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822960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822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9264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Ward 4 EC8A forms record 4,432 LP votes. INEC declared only 3,829 LP votes for the ENTIRE LGA.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EC8A FORMS  (what voters produced)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1920240" cy="1234440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1284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4,432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" y="3017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 VOTES · WARD 4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31720" y="2121408"/>
            <a:ext cx="1920240" cy="1234440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21284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423160" y="3017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APC VOTES · WARD 4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62272" y="1965960"/>
            <a:ext cx="27432" cy="237744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8745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INEC DECLARED  (official LGA result)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121408"/>
            <a:ext cx="1920240" cy="1234440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21284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3,829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754880" y="3017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 VOTES · FULL LGA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20840" y="2121408"/>
            <a:ext cx="2103120" cy="1234440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21284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80,239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812280" y="3017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APC VOTES · FULL LGA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456432"/>
            <a:ext cx="8595360" cy="960120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456432"/>
            <a:ext cx="8595360" cy="365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38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DISCREPANCY  (Obio-Akpor LGA — 169,000+ EC8A forms vs INEC declaration)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813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 votes missing: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51760" y="378561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-64,692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754880" y="3813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APC votes added: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378561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+63,259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457200" y="4078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CCIJ / Veza News  —  169,328 EC8A forms digitized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ADC 2026 Hackathon · Track 3: Checks, Accountability &amp; Judicial Independence · Team 16 · E Don Kast / StayGIS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54864" cy="502920"/>
          </a:xfrm>
          <a:prstGeom prst="rect">
            <a:avLst/>
          </a:prstGeom>
          <a:solidFill>
            <a:srgbClr val="4BB5A8"/>
          </a:solidFill>
          <a:ln w="12700">
            <a:solidFill>
              <a:srgbClr val="4BB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Source Evidence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0624" y="5303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Polling Unit 32/15/04/015 · Ward 4, Rumuodomaya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Polling Agent's Cry for Help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 of an EC8A result form, Polling Unit 015 produced a handwritten complaint letter — a document that proves suppression, not an oversight.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83080" y="2176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Okafor Sophia (LP Polling Agent)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783080" y="26791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INEC ICT Director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200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83080" y="3182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February 2023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703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83080" y="3685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States that presidential result booklets were missing for 9 Ward 4 polling units. Requests investigation.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4160520"/>
            <a:ext cx="4297680" cy="685800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160520"/>
            <a:ext cx="64008" cy="6858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2245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polling units in Ward 4 had NO result booklets on election day. Their votes could never be formally recorded — then or after.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914400"/>
            <a:ext cx="4069080" cy="3977640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914400"/>
            <a:ext cx="4069080" cy="36576"/>
          </a:xfrm>
          <a:prstGeom prst="rect">
            <a:avLst/>
          </a:prstGeom>
          <a:solidFill>
            <a:srgbClr val="4BB5A8"/>
          </a:solidFill>
          <a:ln w="12700">
            <a:solidFill>
              <a:srgbClr val="4BB5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0424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EXHIBIT A  —  DocumentCloud  ·  PU 32/15/04/015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37760" y="123444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To: The Director ICT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INEC, Rivers State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Sir,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Okafor Sophia, agent of Labour Party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Ward 4 Rumuodomaya, write to report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that the presidential result booklets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were not made available at nine (9)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polling units in this ward on the day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election, 25th February 2023.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request your urgent investigation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 this matter as results cannot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 collated without these booklets.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Signed: Okafor Sophia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Date: 28-2-2023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ADC 2026 Hackathon · Track 3: Checks, Accountability &amp; Judicial Independence · Team 16 · E Don Kast / StayGIS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54864" cy="502920"/>
          </a:xfrm>
          <a:prstGeom prst="rect">
            <a:avLst/>
          </a:prstGeom>
          <a:solidFill>
            <a:srgbClr val="4BB5A8"/>
          </a:solidFill>
          <a:ln w="12700">
            <a:solidFill>
              <a:srgbClr val="4BB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Solution: E Don Kast + Claude Vision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0624" y="5303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platform · New AI extraction layer · Parallel to INEC IReV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Already in production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3017520" cy="3200400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3017520" cy="45720"/>
          </a:xfrm>
          <a:prstGeom prst="rect">
            <a:avLst/>
          </a:prstGeom>
          <a:solidFill>
            <a:srgbClr val="4BB5A8"/>
          </a:solidFill>
          <a:ln w="12700">
            <a:solidFill>
              <a:srgbClr val="4BB5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80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Don Kast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app.edonkast.com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Party agents &amp; observers submit EC8A results with photo evidence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drilldown: State → LGA → Ward → Polling Unit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Authenticated collector accounts + public open submissions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Nigeria-wide results map (StayGIS PMTiles)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reporting: BVAS failures, security, malpractice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backend — AWS S3 (Africa region), production API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29000" y="2633472"/>
            <a:ext cx="502920" cy="45720"/>
          </a:xfrm>
          <a:prstGeom prst="rect">
            <a:avLst/>
          </a:prstGeom>
          <a:solidFill>
            <a:srgbClr val="4BB5A8"/>
          </a:solidFill>
          <a:ln w="12700">
            <a:solidFill>
              <a:srgbClr val="4BB5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2423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29000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69080" y="91440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capability — this demo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69080" y="1170432"/>
            <a:ext cx="4754880" cy="3200400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1170432"/>
            <a:ext cx="475488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12801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Vision OCR — Parallel to IReV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162763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Auto-extracts LP &amp; APC counts from EC8A photos. No manual entry.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2039112"/>
            <a:ext cx="347472" cy="347472"/>
          </a:xfrm>
          <a:prstGeom prst="oval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202996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 submitted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22402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Observer photographs EC8A at polling unit — same as IReV upload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61688" y="2423160"/>
            <a:ext cx="27432" cy="411480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0" y="2816352"/>
            <a:ext cx="347472" cy="347472"/>
          </a:xfrm>
          <a:prstGeom prst="oval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63440" y="280720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extracts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30175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reads handwritten LP &amp; APC figures instantly — no human transcription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61688" y="3200400"/>
            <a:ext cx="27432" cy="411480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3593592"/>
            <a:ext cx="347472" cy="347472"/>
          </a:xfrm>
          <a:prstGeom prst="oval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3593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63440" y="358444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Divergence flagged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37947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Don Kast total vs IReV declaration: any gap surfaces immediately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526280"/>
            <a:ext cx="54864" cy="457200"/>
          </a:xfrm>
          <a:prstGeom prst="rect">
            <a:avLst/>
          </a:prstGeom>
          <a:solidFill>
            <a:srgbClr val="4BB5A8"/>
          </a:solidFill>
          <a:ln w="12700">
            <a:solidFill>
              <a:srgbClr val="4BB5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59028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IReV already has the photos. E Don Kast now reads them. When the two counts diverge — that is where to look.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ADC 2026 Hackathon · Track 3: Checks, Accountability &amp; Judicial Independence · Team 16 · E Don Kast / StayGIS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54864" cy="502920"/>
          </a:xfrm>
          <a:prstGeom prst="rect">
            <a:avLst/>
          </a:prstGeom>
          <a:solidFill>
            <a:srgbClr val="4BB5A8"/>
          </a:solidFill>
          <a:ln w="12700">
            <a:solidFill>
              <a:srgbClr val="4BB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Actor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0624" y="5303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must act — and who can make it happen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3886200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274320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REGULATOR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Mandate: Section 78 CFRN requires transparent result collation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 publish ward-level EC8A data within 24h of collation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IReV portal can be upgraded to accept crowd-sourced image uploads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BVAS logs must be publicly auditable in real 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914400"/>
            <a:ext cx="2743200" cy="3886200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914400"/>
            <a:ext cx="2743200" cy="54864"/>
          </a:xfrm>
          <a:prstGeom prst="rect">
            <a:avLst/>
          </a:prstGeom>
          <a:solidFill>
            <a:srgbClr val="4BB5A8"/>
          </a:solidFill>
          <a:ln w="12700">
            <a:solidFill>
              <a:srgbClr val="4BB5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051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Civil Society &amp; Media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13716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PARTNERS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10128" y="1664208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CCIJ digitized 169k EC8A forms — proof the data already exists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Dataphyte, Veza News: publication of discrepancy analysis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Situational Awareness: citizen reporters at polling units with phones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Legal: court challenges require documentary evidence (EC8A forms)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1616" y="914400"/>
            <a:ext cx="2743200" cy="3886200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71616" y="914400"/>
            <a:ext cx="2743200" cy="5486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051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Diaspora &amp; Donors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08776" y="13716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ENABLERS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08776" y="1664208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Nigerian diaspora: 1.7 million in US alone — motivated voters and donors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USAID, Open Society: fund civic tech in electoral integrity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Harvard Kennedy School: policy design and training pipeline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StayGIS: technology development + deployment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ADC 2026 Hackathon · Track 3: Checks, Accountability &amp; Judicial Independence · Team 16 · E Don Kast / StayGIS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54864" cy="502920"/>
          </a:xfrm>
          <a:prstGeom prst="rect">
            <a:avLst/>
          </a:prstGeom>
          <a:solidFill>
            <a:srgbClr val="4BB5A8"/>
          </a:solidFill>
          <a:ln w="12700">
            <a:solidFill>
              <a:srgbClr val="4BB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0624" y="5303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days from policy approval to live deployment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3913632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2743200" cy="54864"/>
          </a:xfrm>
          <a:prstGeom prst="rect">
            <a:avLst/>
          </a:prstGeom>
          <a:solidFill>
            <a:srgbClr val="4BB5A8"/>
          </a:solidFill>
          <a:ln w="12700">
            <a:solidFill>
              <a:srgbClr val="4BB5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241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91640" y="10241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1–30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Platform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645920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full EC8A dataset (169k forms) as open data via CCIJ/Dataphyte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E Don Kast Ward-level dashboard on Vercel (production)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INEC partnership MOU for IReV API access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Vision OCR pipeline hardening — 95%+ accuracy target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914400"/>
            <a:ext cx="2743200" cy="3913632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914400"/>
            <a:ext cx="274320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0241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90288" y="10241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31–60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10128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Election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0128" y="1645920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Ekiti State off-cycle election pilot — June 20, 2026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500 citizen observers with E Don Kast mobile uploader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result aggregation vs official collation centre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discrepancy alerts to registered media partners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71616" y="914400"/>
            <a:ext cx="2743200" cy="3913632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914400"/>
            <a:ext cx="2743200" cy="5486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0241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488936" y="10241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61–90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08776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&amp; Policy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08776" y="1645920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Osun State pilot — August 15, 2026; scale to 3,000+ observers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accuracy and adoption report to INEC and National Assembly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Legislative brief: INEC Act amendment requiring real-time EC8A disclosure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Diaspora crowdfunding campaign for 2027 general election deployment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metric: ≥85% of ward-level LP/APC totals verified against EC8A forms within 6 hours of poll close.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ADC 2026 Hackathon · Track 3: Checks, Accountability &amp; Judicial Independence · Team 16 · E Don Kast / StayGIS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737360"/>
          </a:xfrm>
          <a:prstGeom prst="rect">
            <a:avLst/>
          </a:prstGeom>
          <a:solidFill>
            <a:srgbClr val="0D2A27"/>
          </a:solidFill>
          <a:ln w="12700">
            <a:solidFill>
              <a:srgbClr val="0D2A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37360"/>
            <a:ext cx="9144000" cy="36576"/>
          </a:xfrm>
          <a:prstGeom prst="rect">
            <a:avLst/>
          </a:prstGeom>
          <a:solidFill>
            <a:srgbClr val="4BB5A8"/>
          </a:solidFill>
          <a:ln w="12700">
            <a:solidFill>
              <a:srgbClr val="4BB5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 the EC8A form. Scan. Watch it count.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the QR code → photograph your form → see the votes appear on the dashboard above.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Ask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267712"/>
            <a:ext cx="384048" cy="384048"/>
          </a:xfrm>
          <a:prstGeom prst="rect">
            <a:avLst/>
          </a:prstGeom>
          <a:solidFill>
            <a:srgbClr val="1A3A38"/>
          </a:solidFill>
          <a:ln w="6350">
            <a:solidFill>
              <a:srgbClr val="4BB5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2768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INEC Partnership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4780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to IReV upload API for real-time EC8A verification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889504"/>
            <a:ext cx="384048" cy="384048"/>
          </a:xfrm>
          <a:prstGeom prst="rect">
            <a:avLst/>
          </a:prstGeom>
          <a:solidFill>
            <a:srgbClr val="1A3A38"/>
          </a:solidFill>
          <a:ln w="6350">
            <a:solidFill>
              <a:srgbClr val="4BB5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28986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$150k Seed Funding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30998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 2026 pilot elections in Ekiti (Jun 20) and Osun (Aug 15)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511296"/>
            <a:ext cx="384048" cy="384048"/>
          </a:xfrm>
          <a:prstGeom prst="rect">
            <a:avLst/>
          </a:prstGeom>
          <a:solidFill>
            <a:srgbClr val="1A3A38"/>
          </a:solidFill>
          <a:ln w="6350">
            <a:solidFill>
              <a:srgbClr val="4BB5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35204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Amplification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37216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Dataphyte, Veza News, Premium Times as distribution partners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133088"/>
            <a:ext cx="384048" cy="384048"/>
          </a:xfrm>
          <a:prstGeom prst="rect">
            <a:avLst/>
          </a:prstGeom>
          <a:solidFill>
            <a:srgbClr val="1A3A38"/>
          </a:solidFill>
          <a:ln w="6350">
            <a:solidFill>
              <a:srgbClr val="4BB5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41422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Coalition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43434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EC8A disclosure mandate amendment to INEC 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1874520"/>
            <a:ext cx="4023360" cy="2971800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1874520"/>
            <a:ext cx="4023360" cy="36576"/>
          </a:xfrm>
          <a:prstGeom prst="rect">
            <a:avLst/>
          </a:prstGeom>
          <a:solidFill>
            <a:srgbClr val="4BB5A8"/>
          </a:solidFill>
          <a:ln w="12700">
            <a:solidFill>
              <a:srgbClr val="4BB5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AUDIENCE: SCAN TO SUBMIT</a:t>
            </a:r>
            <a:endParaRPr lang="en-US" sz="900" dirty="0"/>
          </a:p>
        </p:txBody>
      </p:sp>
      <p:pic>
        <p:nvPicPr>
          <p:cNvPr id="27" name="Image 0" descr="/sessions/confident-optimistic-brahmagupta/pptx_work/qr_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212848"/>
            <a:ext cx="2011680" cy="20116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892040" y="4279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B5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edonkast-ocr-production.up.railway.app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800600" y="4572000"/>
            <a:ext cx="4023360" cy="384048"/>
          </a:xfrm>
          <a:prstGeom prst="rect">
            <a:avLst/>
          </a:prstGeom>
          <a:solidFill>
            <a:srgbClr val="162032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00600" y="4572000"/>
            <a:ext cx="45720" cy="3840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19472" y="4599432"/>
            <a:ext cx="3822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 DASHBOARD: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919472" y="4754880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edonkast-ocr-production.up.railway.app/dashboard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4320" y="5020056"/>
            <a:ext cx="8595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femi@staygis.com  ·  app.edonkast.com  ·  ADC 2026  ·  Track 3  ·  Team 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 Don Kast — ADC 2026 Hackathon</dc:title>
  <dc:subject>PptxGenJS Presentation</dc:subject>
  <dc:creator>Olufemi Olamijulo</dc:creator>
  <cp:lastModifiedBy>Olufemi Olamijulo</cp:lastModifiedBy>
  <cp:revision>1</cp:revision>
  <dcterms:created xsi:type="dcterms:W3CDTF">2026-04-13T05:18:18Z</dcterms:created>
  <dcterms:modified xsi:type="dcterms:W3CDTF">2026-04-13T05:18:18Z</dcterms:modified>
</cp:coreProperties>
</file>