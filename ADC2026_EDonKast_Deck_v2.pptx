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DEVELOPMENT CONFERENCE 2026  ·  TRACK 3  ·  TEAM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5720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0D34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63,259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Votes That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Existed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11480" y="2788920"/>
            <a:ext cx="8321040" cy="36576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907792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EC8A polling-unit forms expose a result inversion in Nigeria's 2023 presidential election.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Don Kast reads them automatically — in real time, running parallel to INEC's IReV.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3749040"/>
            <a:ext cx="3840480" cy="420624"/>
          </a:xfrm>
          <a:prstGeom prst="rect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3758184"/>
            <a:ext cx="371246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Electoral Act 2026 now mandates real-time IReV transmission. E Don Kast enforces it.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43159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Olufemi Olamijulo  ·  Rhoda Oluwarantimi Oni  ·  Dela Michel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4544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app.edonkast.com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2976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spc="300" kern="0" dirty="0">
                <a:solidFill>
                  <a:srgbClr val="00A9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DON KAST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4590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Election Verification  ·  StayGIS LLC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2023 Presidential Election  ·  Checks &amp; Accountability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Law Changed. The Gap Remains.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16736"/>
            <a:ext cx="8412480" cy="36576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26464"/>
            <a:ext cx="4160520" cy="2743200"/>
          </a:xfrm>
          <a:prstGeom prst="rect">
            <a:avLst/>
          </a:prstGeom>
          <a:solidFill>
            <a:srgbClr val="0B1F3A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48132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 —  Electoral Act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2064" y="1737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60(3) now mandates: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" y="19568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presiding officer shall electronically transmit the results from each polling unit to the IReV portal in real time…"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" y="2651760"/>
            <a:ext cx="3840480" cy="493776"/>
          </a:xfrm>
          <a:prstGeom prst="rect">
            <a:avLst/>
          </a:prstGeom>
          <a:solidFill>
            <a:srgbClr val="E889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679192"/>
            <a:ext cx="373075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loophole: a 'communication failure' exemption allows manual EC8A to override IReV — undefined, undocumented, unenforced.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" y="3236976"/>
            <a:ext cx="3840480" cy="365760"/>
          </a:xfrm>
          <a:prstGeom prst="rect">
            <a:avLst/>
          </a:prstGeom>
          <a:solidFill>
            <a:srgbClr val="007A72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255264"/>
            <a:ext cx="3730752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Don Kast closes this loophole — independent extraction from the same photos IReV already holds.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426464"/>
            <a:ext cx="4069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481328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NUMBERS CHANGE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46320" y="1773936"/>
            <a:ext cx="347472" cy="347472"/>
          </a:xfrm>
          <a:prstGeom prst="rect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81051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EC8A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266944" y="17922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EC8A signed at polling unit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66944" y="1975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agents witness. Form is authoritative.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92624" y="2139696"/>
            <a:ext cx="36576" cy="201168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2377440"/>
            <a:ext cx="347472" cy="347472"/>
          </a:xfrm>
          <a:prstGeom prst="rect">
            <a:avLst/>
          </a:prstGeom>
          <a:solidFill>
            <a:srgbClr val="E889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24140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266944" y="2395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 collation centre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66944" y="25786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officer. Behind closed doors. Numbers can change.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92624" y="2743200"/>
            <a:ext cx="36576" cy="201168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2980944"/>
            <a:ext cx="347472" cy="347472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0175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266944" y="29992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INEC declaration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66944" y="31821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only surfaces months later in court.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3547872"/>
            <a:ext cx="3803904" cy="420624"/>
          </a:xfrm>
          <a:prstGeom prst="rect">
            <a:avLst/>
          </a:prstGeom>
          <a:solidFill>
            <a:srgbClr val="E3F5F4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3566160"/>
            <a:ext cx="36576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IReV already has the photos. E Don Kast now reads them and makes divergence visible instantly.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2026 Hackathon  ·  Track 3: Checks, Accountability &amp; Judicial Independence  ·  Team 16  ·  E Don Kast / StayGIS LLC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4 (Rumuodomaya)  ·  Obio-Akpor LGA  ·  Rivers State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Evidence: Numbers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21792"/>
          </a:xfrm>
          <a:prstGeom prst="rect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78992"/>
            <a:ext cx="81381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Ward 4 EC8A forms record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4,432 LP votes</a:t>
            </a:r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.  INEC declared only </a:t>
            </a:r>
            <a:pPr indent="0" marL="0">
              <a:buNone/>
            </a:pPr>
            <a:r>
              <a:rPr lang="en-US" sz="1300" b="1" dirty="0">
                <a:solidFill>
                  <a:srgbClr val="7B0000"/>
                </a:solidFill>
              </a:rPr>
              <a:t>3,829 LP votes</a:t>
            </a:r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 for the ENTIRE LGA — a single ward recorded more LP votes than INEC credited to all 48.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1847088" cy="2066544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92224"/>
            <a:ext cx="1847088" cy="7315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01952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9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4,432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VOTES · WARD 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EC8A forms recorded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31720" y="1792224"/>
            <a:ext cx="1847088" cy="2066544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1792224"/>
            <a:ext cx="1847088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1901952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3,829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423160" y="271576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VOTES · FULL LGA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23160" y="30175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INEC officially declared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97680" y="1792224"/>
            <a:ext cx="2286000" cy="2066544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792224"/>
            <a:ext cx="2286000" cy="73152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901952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9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−64,692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389120" y="2715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VOTES MISSING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 EC8A vs declared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02552" y="1792224"/>
            <a:ext cx="2286000" cy="2066544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02552" y="1792224"/>
            <a:ext cx="2286000" cy="73152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24" name="Text 22"/>
          <p:cNvSpPr/>
          <p:nvPr/>
        </p:nvSpPr>
        <p:spPr>
          <a:xfrm>
            <a:off x="6793992" y="1901952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9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+63,259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793992" y="2715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 VOTES ADDED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93992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INEC declared vs EC8A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CCIJ / Veza News  —  169,328 EC8A forms digitized from Obio-Akpor LGA  [PRI1, INV1]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five Rivers State LGAs where EC8A forms show 110,000+ more APC votes than recorded at polling units. [INV1]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2026 Hackathon  ·  Track 3: Checks, Accountability &amp; Judicial Independence  ·  Team 16  ·  E Don Kast / StayGIS LLC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Unit 32/15/04/015  ·  Ward 4, Rumuodomaya  ·  Primary Source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Polling Agent's Cry for Help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2004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15568"/>
            <a:ext cx="443484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64008" cy="3127248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E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A  —  DocumentCloud  ·  PU 32/15/04/015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4169664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To: The Director ICT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INEC, Rivers State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Sir,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I, Okafor Sophia, polling agent of Labour Party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Ward 4 Rumuodomaya, write to report that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presidential result booklets were NOT made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at nine (9) polling units in this ward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election day, 25th February 2023.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request your urgent investigation into this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matter as results cannot be collated without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these booklets.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Signed: Okafor Sophia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28-02-2023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74336" y="1115568"/>
            <a:ext cx="38039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74336" y="1115568"/>
            <a:ext cx="64008" cy="658368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2" name="Text 10"/>
          <p:cNvSpPr/>
          <p:nvPr/>
        </p:nvSpPr>
        <p:spPr>
          <a:xfrm>
            <a:off x="5102352" y="1170432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02352" y="134416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Okafor Sophia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02352" y="1563624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Polling Agent, Ward 4, Rumuodomaya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74336" y="1883664"/>
            <a:ext cx="38039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336" y="1883664"/>
            <a:ext cx="64008" cy="658368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7" name="Text 15"/>
          <p:cNvSpPr/>
          <p:nvPr/>
        </p:nvSpPr>
        <p:spPr>
          <a:xfrm>
            <a:off x="5102352" y="1938528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02352" y="21122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INEC ICT Director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02352" y="233172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State — on record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74336" y="2651760"/>
            <a:ext cx="38039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74336" y="2651760"/>
            <a:ext cx="64008" cy="658368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22" name="Text 20"/>
          <p:cNvSpPr/>
          <p:nvPr/>
        </p:nvSpPr>
        <p:spPr>
          <a:xfrm>
            <a:off x="5102352" y="2706624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FILED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02352" y="288036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 Feb 2023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02352" y="3099816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after polling day — contemporaneous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74336" y="3419856"/>
            <a:ext cx="38039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74336" y="3419856"/>
            <a:ext cx="64008" cy="658368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3474720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02352" y="36484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polling units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02352" y="3867912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NO result booklets on election day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74336" y="4206240"/>
            <a:ext cx="3803904" cy="512064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84064" y="4233672"/>
            <a:ext cx="358444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reconstruction — it is contemporaneous evidence of suppression filed on election day and archived on DocumentCloud.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2026 Hackathon  ·  Track 3: Checks, Accountability &amp; Judicial Independence  ·  Team 16  ·  E Don Kast / StayGIS LLC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Platform  ·  AI Extraction Layer  ·  Parallel to INEC IReV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E Don Kast + Claude Vision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383280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54864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170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PRODUCTION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2064" y="1389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Don Kast  ·  app.edonkast.com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0352" y="1737360"/>
            <a:ext cx="164592" cy="16459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7373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7465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Nigeria-wide results map (StayGIS PMTiles)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2020824"/>
            <a:ext cx="164592" cy="16459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020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" y="2029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EC8A photo submission by party agents and observers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304288"/>
            <a:ext cx="164592" cy="16459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3042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8952" y="2313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drilldown: State → LGA → Ward → Polling Unit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2587752"/>
            <a:ext cx="164592" cy="16459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5877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" y="2596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reporting: BVAS failures, security incidents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0352" y="2871216"/>
            <a:ext cx="164592" cy="16459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8712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" y="2880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(Africa region) backend, production API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" y="3154680"/>
            <a:ext cx="164592" cy="16459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154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" y="3163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collectors + public open submissions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1097280"/>
            <a:ext cx="4206240" cy="3383280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1097280"/>
            <a:ext cx="4206240" cy="54864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29" name="Text 27"/>
          <p:cNvSpPr/>
          <p:nvPr/>
        </p:nvSpPr>
        <p:spPr>
          <a:xfrm>
            <a:off x="4718304" y="117043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—  Claude Vision OCR Layer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18304" y="1463040"/>
            <a:ext cx="384048" cy="384048"/>
          </a:xfrm>
          <a:prstGeom prst="oval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18304" y="147218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75504" y="14813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Observer photographs EC8A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75504" y="17007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workflow as IReV upload — no new hardware required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82896" y="1865376"/>
            <a:ext cx="36576" cy="438912"/>
          </a:xfrm>
          <a:prstGeom prst="rect">
            <a:avLst/>
          </a:prstGeom>
          <a:solidFill>
            <a:srgbClr val="007A72"/>
          </a:solidFill>
          <a:ln/>
        </p:spPr>
      </p:sp>
      <p:sp>
        <p:nvSpPr>
          <p:cNvPr id="35" name="Shape 33"/>
          <p:cNvSpPr/>
          <p:nvPr/>
        </p:nvSpPr>
        <p:spPr>
          <a:xfrm>
            <a:off x="4718304" y="2304288"/>
            <a:ext cx="384048" cy="384048"/>
          </a:xfrm>
          <a:prstGeom prst="oval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18304" y="23134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75504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Vision extracts votes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175504" y="25420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handwritten LP &amp; APC figures; cross-checks figures vs words column for accuracy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82896" y="2706624"/>
            <a:ext cx="36576" cy="438912"/>
          </a:xfrm>
          <a:prstGeom prst="rect">
            <a:avLst/>
          </a:prstGeom>
          <a:solidFill>
            <a:srgbClr val="007A72"/>
          </a:solidFill>
          <a:ln/>
        </p:spPr>
      </p:sp>
      <p:sp>
        <p:nvSpPr>
          <p:cNvPr id="40" name="Shape 38"/>
          <p:cNvSpPr/>
          <p:nvPr/>
        </p:nvSpPr>
        <p:spPr>
          <a:xfrm>
            <a:off x="4718304" y="3145536"/>
            <a:ext cx="384048" cy="384048"/>
          </a:xfrm>
          <a:prstGeom prst="oval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18304" y="3154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75504" y="3163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Divergence flagged instantly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175504" y="33832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Don Kast crowd total vs IReV declaration — any gap surfaces immediately, not months later in court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553712"/>
            <a:ext cx="8412480" cy="365760"/>
          </a:xfrm>
          <a:prstGeom prst="rect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" y="4572000"/>
            <a:ext cx="822960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Electoral Act 2026 mandates IReV transmission. E Don Kast is the independent verification layer that enforces it.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2026 Hackathon  ·  Track 3: Checks, Accountability &amp; Judicial Independence  ·  Team 16  ·  E Don Kast / StayGIS LLC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Must Act — and Who Can Make It Happen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Actor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2004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33856"/>
            <a:ext cx="2670048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33856"/>
            <a:ext cx="2670048" cy="91440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24358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" y="167335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REGULATOR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3776" y="1874520"/>
            <a:ext cx="2414016" cy="27432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" y="1965960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1947672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78 CFRN: transparent result collation required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" y="2496312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478024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Act 2026 now legally mandates EC8A transmission — INEC must implement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" y="3026664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008376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IReV portal upgradeable for crowd-sourced verified images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" y="3557016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53872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BVAS logs must become publicly auditable in real 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1133856"/>
            <a:ext cx="2670048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133856"/>
            <a:ext cx="2670048" cy="91440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21" name="Text 19"/>
          <p:cNvSpPr/>
          <p:nvPr/>
        </p:nvSpPr>
        <p:spPr>
          <a:xfrm>
            <a:off x="3328416" y="124358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Civil Society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Media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28416" y="167335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E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PARTNERS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28416" y="1874520"/>
            <a:ext cx="2414016" cy="27432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24" name="Shape 22"/>
          <p:cNvSpPr/>
          <p:nvPr/>
        </p:nvSpPr>
        <p:spPr>
          <a:xfrm>
            <a:off x="3328416" y="1965960"/>
            <a:ext cx="118872" cy="118872"/>
          </a:xfrm>
          <a:prstGeom prst="oval">
            <a:avLst/>
          </a:prstGeom>
          <a:solidFill>
            <a:srgbClr val="E8893A"/>
          </a:solidFill>
          <a:ln/>
        </p:spPr>
      </p:sp>
      <p:sp>
        <p:nvSpPr>
          <p:cNvPr id="25" name="Text 23"/>
          <p:cNvSpPr/>
          <p:nvPr/>
        </p:nvSpPr>
        <p:spPr>
          <a:xfrm>
            <a:off x="3502152" y="1947672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CCIJ digitized 169k EC8A forms — infrastructure already exists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28416" y="2496312"/>
            <a:ext cx="118872" cy="118872"/>
          </a:xfrm>
          <a:prstGeom prst="oval">
            <a:avLst/>
          </a:prstGeom>
          <a:solidFill>
            <a:srgbClr val="E8893A"/>
          </a:solidFill>
          <a:ln/>
        </p:spPr>
      </p:sp>
      <p:sp>
        <p:nvSpPr>
          <p:cNvPr id="27" name="Text 25"/>
          <p:cNvSpPr/>
          <p:nvPr/>
        </p:nvSpPr>
        <p:spPr>
          <a:xfrm>
            <a:off x="3502152" y="2478024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Dataphyte, Veza News: publish discrepancy analysis on election night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28416" y="3026664"/>
            <a:ext cx="118872" cy="118872"/>
          </a:xfrm>
          <a:prstGeom prst="oval">
            <a:avLst/>
          </a:prstGeom>
          <a:solidFill>
            <a:srgbClr val="E8893A"/>
          </a:solidFill>
          <a:ln/>
        </p:spPr>
      </p:sp>
      <p:sp>
        <p:nvSpPr>
          <p:cNvPr id="29" name="Text 27"/>
          <p:cNvSpPr/>
          <p:nvPr/>
        </p:nvSpPr>
        <p:spPr>
          <a:xfrm>
            <a:off x="3502152" y="3008376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reporters with phones become election observers at scale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28416" y="3557016"/>
            <a:ext cx="118872" cy="118872"/>
          </a:xfrm>
          <a:prstGeom prst="oval">
            <a:avLst/>
          </a:prstGeom>
          <a:solidFill>
            <a:srgbClr val="E8893A"/>
          </a:solidFill>
          <a:ln/>
        </p:spPr>
      </p:sp>
      <p:sp>
        <p:nvSpPr>
          <p:cNvPr id="31" name="Text 29"/>
          <p:cNvSpPr/>
          <p:nvPr/>
        </p:nvSpPr>
        <p:spPr>
          <a:xfrm>
            <a:off x="3502152" y="353872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legal coalition: EC8A forms as court-ready documentary evidence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1133856"/>
            <a:ext cx="2670048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1133856"/>
            <a:ext cx="2670048" cy="9144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34" name="Text 32"/>
          <p:cNvSpPr/>
          <p:nvPr/>
        </p:nvSpPr>
        <p:spPr>
          <a:xfrm>
            <a:off x="6163056" y="124358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Diaspora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Donors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63056" y="167335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63056" y="1874520"/>
            <a:ext cx="2414016" cy="27432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37" name="Shape 35"/>
          <p:cNvSpPr/>
          <p:nvPr/>
        </p:nvSpPr>
        <p:spPr>
          <a:xfrm>
            <a:off x="6163056" y="1965960"/>
            <a:ext cx="118872" cy="118872"/>
          </a:xfrm>
          <a:prstGeom prst="oval">
            <a:avLst/>
          </a:prstGeom>
          <a:solidFill>
            <a:srgbClr val="5B8DB8"/>
          </a:solidFill>
          <a:ln/>
        </p:spPr>
      </p:sp>
      <p:sp>
        <p:nvSpPr>
          <p:cNvPr id="38" name="Text 36"/>
          <p:cNvSpPr/>
          <p:nvPr/>
        </p:nvSpPr>
        <p:spPr>
          <a:xfrm>
            <a:off x="6336792" y="1947672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million Nigerians in the US — motivated voters and donors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63056" y="2496312"/>
            <a:ext cx="118872" cy="118872"/>
          </a:xfrm>
          <a:prstGeom prst="oval">
            <a:avLst/>
          </a:prstGeom>
          <a:solidFill>
            <a:srgbClr val="5B8DB8"/>
          </a:solidFill>
          <a:ln/>
        </p:spPr>
      </p:sp>
      <p:sp>
        <p:nvSpPr>
          <p:cNvPr id="40" name="Text 38"/>
          <p:cNvSpPr/>
          <p:nvPr/>
        </p:nvSpPr>
        <p:spPr>
          <a:xfrm>
            <a:off x="6336792" y="2478024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USAID, Open Society: fund civic tech for electoral integrity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63056" y="3026664"/>
            <a:ext cx="118872" cy="118872"/>
          </a:xfrm>
          <a:prstGeom prst="oval">
            <a:avLst/>
          </a:prstGeom>
          <a:solidFill>
            <a:srgbClr val="5B8DB8"/>
          </a:solidFill>
          <a:ln/>
        </p:spPr>
      </p:sp>
      <p:sp>
        <p:nvSpPr>
          <p:cNvPr id="42" name="Text 40"/>
          <p:cNvSpPr/>
          <p:nvPr/>
        </p:nvSpPr>
        <p:spPr>
          <a:xfrm>
            <a:off x="6336792" y="3008376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Kennedy School: policy design and diaspora training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63056" y="3557016"/>
            <a:ext cx="118872" cy="118872"/>
          </a:xfrm>
          <a:prstGeom prst="oval">
            <a:avLst/>
          </a:prstGeom>
          <a:solidFill>
            <a:srgbClr val="5B8DB8"/>
          </a:solidFill>
          <a:ln/>
        </p:spPr>
      </p:sp>
      <p:sp>
        <p:nvSpPr>
          <p:cNvPr id="44" name="Text 42"/>
          <p:cNvSpPr/>
          <p:nvPr/>
        </p:nvSpPr>
        <p:spPr>
          <a:xfrm>
            <a:off x="6336792" y="353872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StayGIS LLC: technology development and deployment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2026 Hackathon  ·  Track 3: Checks, Accountability &amp; Judicial Independence  ·  Team 16  ·  E Don Kast / StayGIS LLC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from Policy Approval to Live 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2004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15568"/>
            <a:ext cx="26517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651760" cy="475488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1338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 ·  Days 1–30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13350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1636776"/>
            <a:ext cx="2432304" cy="27432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" y="171907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170078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169k EC8A dataset as open data (CCIJ/Dataphyte)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3776" y="222199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20370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 Don Kast ward-level dashboard on Vercel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3776" y="272491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27066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INEC partnership MOU — IReV API access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3776" y="322783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20954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Claude Vision pipeline → 95%+ accuracy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" y="3730752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37124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Dataset live + MOU signed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1115568"/>
            <a:ext cx="26517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115568"/>
            <a:ext cx="2651760" cy="475488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11338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·  Days 31–60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10128" y="13350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Election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Ekiti — Jun 20, 2026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10128" y="1636776"/>
            <a:ext cx="2432304" cy="27432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26" name="Shape 24"/>
          <p:cNvSpPr/>
          <p:nvPr/>
        </p:nvSpPr>
        <p:spPr>
          <a:xfrm>
            <a:off x="3328416" y="171907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27" name="Text 25"/>
          <p:cNvSpPr/>
          <p:nvPr/>
        </p:nvSpPr>
        <p:spPr>
          <a:xfrm>
            <a:off x="3502152" y="170078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500 citizen observers with mobile uploader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28416" y="222199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29" name="Text 27"/>
          <p:cNvSpPr/>
          <p:nvPr/>
        </p:nvSpPr>
        <p:spPr>
          <a:xfrm>
            <a:off x="3502152" y="220370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aggregation vs official collation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28416" y="272491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31" name="Text 29"/>
          <p:cNvSpPr/>
          <p:nvPr/>
        </p:nvSpPr>
        <p:spPr>
          <a:xfrm>
            <a:off x="3502152" y="27066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alerts to registered media partners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28416" y="322783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33" name="Text 31"/>
          <p:cNvSpPr/>
          <p:nvPr/>
        </p:nvSpPr>
        <p:spPr>
          <a:xfrm>
            <a:off x="3502152" y="320954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Post-election accuracy audit and public report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28416" y="3730752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35" name="Text 33"/>
          <p:cNvSpPr/>
          <p:nvPr/>
        </p:nvSpPr>
        <p:spPr>
          <a:xfrm>
            <a:off x="3502152" y="37124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≥85% ward totals verified within 6 hrs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0" y="1115568"/>
            <a:ext cx="26517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1115568"/>
            <a:ext cx="2651760" cy="475488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38" name="Text 36"/>
          <p:cNvSpPr/>
          <p:nvPr/>
        </p:nvSpPr>
        <p:spPr>
          <a:xfrm>
            <a:off x="6144768" y="11338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 ·  Days 61–90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44768" y="13350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&amp; Policy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Osun — Aug 15, 2026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44768" y="1636776"/>
            <a:ext cx="2432304" cy="27432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41" name="Shape 39"/>
          <p:cNvSpPr/>
          <p:nvPr/>
        </p:nvSpPr>
        <p:spPr>
          <a:xfrm>
            <a:off x="6163056" y="171907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42" name="Text 40"/>
          <p:cNvSpPr/>
          <p:nvPr/>
        </p:nvSpPr>
        <p:spPr>
          <a:xfrm>
            <a:off x="6336792" y="170078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3,000+ observers for Osun pilot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63056" y="222199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44" name="Text 42"/>
          <p:cNvSpPr/>
          <p:nvPr/>
        </p:nvSpPr>
        <p:spPr>
          <a:xfrm>
            <a:off x="6336792" y="220370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accuracy report to INEC and Assembly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63056" y="272491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46" name="Text 44"/>
          <p:cNvSpPr/>
          <p:nvPr/>
        </p:nvSpPr>
        <p:spPr>
          <a:xfrm>
            <a:off x="6336792" y="27066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INEC Act amendment — mandatory EC8A disclosure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63056" y="322783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48" name="Text 46"/>
          <p:cNvSpPr/>
          <p:nvPr/>
        </p:nvSpPr>
        <p:spPr>
          <a:xfrm>
            <a:off x="6336792" y="320954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diaspora crowdfunding for 2027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63056" y="3730752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50" name="Text 48"/>
          <p:cNvSpPr/>
          <p:nvPr/>
        </p:nvSpPr>
        <p:spPr>
          <a:xfrm>
            <a:off x="6336792" y="37124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Bill tabled; crowdfund at $50k+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2026 Hackathon  ·  Track 3: Checks, Accountability &amp; Judicial Independence  ·  Team 16  ·  E Don Kast / StayGIS LLC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 —  Hold the EC8A form. Scan. Watch it count.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2359152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" y="713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SUBMIT</a:t>
            </a:r>
            <a:endParaRPr lang="en-US" sz="900" dirty="0"/>
          </a:p>
        </p:txBody>
      </p:sp>
      <p:pic>
        <p:nvPicPr>
          <p:cNvPr id="6" name="Image 0" descr="/sessions/confident-optimistic-brahmagupta/mnt/Nigeria-2023-election-OCR/qr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78408"/>
            <a:ext cx="1719072" cy="17190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" y="275234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edonkast-ocr-production.up.railway.app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29184" y="295351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/dashboard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907792" y="640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Ask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907792" y="1078992"/>
            <a:ext cx="5852160" cy="713232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07792" y="1078992"/>
            <a:ext cx="548640" cy="71323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2" name="Text 9"/>
          <p:cNvSpPr/>
          <p:nvPr/>
        </p:nvSpPr>
        <p:spPr>
          <a:xfrm>
            <a:off x="2907792" y="12618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20440" y="11247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INEC Partnership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20440" y="13898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IReV upload API for real-time EC8A verification and instant discrepancy flagging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907792" y="1901952"/>
            <a:ext cx="5852160" cy="713232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907792" y="1901952"/>
            <a:ext cx="548640" cy="71323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7" name="Text 14"/>
          <p:cNvSpPr/>
          <p:nvPr/>
        </p:nvSpPr>
        <p:spPr>
          <a:xfrm>
            <a:off x="2907792" y="20848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520440" y="19476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$150k Seed Funding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520440" y="22128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2026 pilot elections (Ekiti Jun 20, Osun Aug 15) and platform hardening to production scale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07792" y="2724912"/>
            <a:ext cx="5852160" cy="713232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907792" y="2724912"/>
            <a:ext cx="548640" cy="713232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22" name="Text 19"/>
          <p:cNvSpPr/>
          <p:nvPr/>
        </p:nvSpPr>
        <p:spPr>
          <a:xfrm>
            <a:off x="2907792" y="29077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520440" y="27706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Amplification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520440" y="30358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Dataphyte, Veza News, Premium Times as live distribution partners for election-night discrepancy reporting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907792" y="3547872"/>
            <a:ext cx="5852160" cy="713232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907792" y="3547872"/>
            <a:ext cx="548640" cy="713232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27" name="Text 24"/>
          <p:cNvSpPr/>
          <p:nvPr/>
        </p:nvSpPr>
        <p:spPr>
          <a:xfrm>
            <a:off x="2907792" y="37307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3520440" y="3593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Legislative Coalition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520440" y="38587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EC8A mandatory real-time disclosure amendment under Electoral Act 2026 Section 60 — close the loophole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4837176"/>
            <a:ext cx="9144000" cy="306324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1" name="Text 28"/>
          <p:cNvSpPr/>
          <p:nvPr/>
        </p:nvSpPr>
        <p:spPr>
          <a:xfrm>
            <a:off x="274320" y="4846320"/>
            <a:ext cx="8595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femi@staygis.com  ·  app.edonkast.com  ·  ADC 2026  ·  Track 3  ·  Team 16  |  Olufemi Olamijulo  ·  Rhoda Oluwarantimi Oni  ·  Dela Michel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2026-04-17T12:06:52Z</dcterms:created>
  <dcterms:modified xsi:type="dcterms:W3CDTF">2026-04-17T12:06:52Z</dcterms:modified>
</cp:coreProperties>
</file>